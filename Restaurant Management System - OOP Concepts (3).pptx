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65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9.jp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jpg"/><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jpg"/><Relationship Id="rId3" Type="http://schemas.openxmlformats.org/officeDocument/2006/relationships/image" Target="../media/image14.png"/><Relationship Id="rId7" Type="http://schemas.openxmlformats.org/officeDocument/2006/relationships/image" Target="../media/image20.png"/><Relationship Id="rId12" Type="http://schemas.openxmlformats.org/officeDocument/2006/relationships/image" Target="../media/image10.jp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9.jpg"/><Relationship Id="rId5" Type="http://schemas.openxmlformats.org/officeDocument/2006/relationships/image" Target="../media/image28.png"/><Relationship Id="rId10" Type="http://schemas.openxmlformats.org/officeDocument/2006/relationships/image" Target="../media/image4.jpg"/><Relationship Id="rId4" Type="http://schemas.openxmlformats.org/officeDocument/2006/relationships/image" Target="../media/image27.pn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21.png"/><Relationship Id="rId9" Type="http://schemas.openxmlformats.org/officeDocument/2006/relationships/image" Target="../media/image4.jpg"/></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4.png"/><Relationship Id="rId7" Type="http://schemas.openxmlformats.org/officeDocument/2006/relationships/image" Target="../media/image21.png"/><Relationship Id="rId12" Type="http://schemas.openxmlformats.org/officeDocument/2006/relationships/image" Target="../media/image10.jpg"/><Relationship Id="rId2"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25.jpg"/><Relationship Id="rId5" Type="http://schemas.openxmlformats.org/officeDocument/2006/relationships/image" Target="../media/image18.png"/><Relationship Id="rId10" Type="http://schemas.openxmlformats.org/officeDocument/2006/relationships/image" Target="../media/image42.png"/><Relationship Id="rId4" Type="http://schemas.openxmlformats.org/officeDocument/2006/relationships/image" Target="../media/image34.png"/><Relationship Id="rId9" Type="http://schemas.openxmlformats.org/officeDocument/2006/relationships/image" Target="../media/image41.png"/></Relationships>
</file>

<file path=ppt/slides/_rels/slide8.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15.jpg"/><Relationship Id="rId4" Type="http://schemas.openxmlformats.org/officeDocument/2006/relationships/image" Target="../media/image45.png"/><Relationship Id="rId9" Type="http://schemas.openxmlformats.org/officeDocument/2006/relationships/image" Target="../media/image49.png"/></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BEB"/>
            </a:gs>
            <a:gs pos="100000">
              <a:srgbClr val="FFF7ED"/>
            </a:gs>
          </a:gsLst>
          <a:lin ang="8100000" scaled="0"/>
        </a:gra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alphaModFix/>
          </a:blip>
          <a:stretch>
            <a:fillRect/>
          </a:stretch>
        </p:blipFill>
        <p:spPr>
          <a:xfrm>
            <a:off x="571485" y="1245804"/>
            <a:ext cx="342891" cy="289691"/>
          </a:xfrm>
          <a:prstGeom prst="rect">
            <a:avLst/>
          </a:prstGeom>
        </p:spPr>
      </p:pic>
      <p:sp>
        <p:nvSpPr>
          <p:cNvPr id="3" name="TextBox 2"/>
          <p:cNvSpPr txBox="1"/>
          <p:nvPr/>
        </p:nvSpPr>
        <p:spPr>
          <a:xfrm>
            <a:off x="990575" y="1257300"/>
            <a:ext cx="2266893" cy="266699"/>
          </a:xfrm>
          <a:prstGeom prst="rect">
            <a:avLst/>
          </a:prstGeom>
          <a:noFill/>
        </p:spPr>
        <p:txBody>
          <a:bodyPr wrap="none" lIns="73152" tIns="54864" rIns="73152" bIns="54864" anchor="ctr">
            <a:spAutoFit/>
          </a:bodyPr>
          <a:lstStyle/>
          <a:p>
            <a:pPr algn="l">
              <a:lnSpc>
                <a:spcPts val="1820"/>
              </a:lnSpc>
              <a:spcBef>
                <a:spcPts val="0"/>
              </a:spcBef>
              <a:spcAft>
                <a:spcPts val="0"/>
              </a:spcAft>
            </a:pPr>
            <a:r>
              <a:rPr sz="1076" b="1">
                <a:solidFill>
                  <a:srgbClr val="6B7280"/>
                </a:solidFill>
                <a:latin typeface="Poppins"/>
              </a:rPr>
              <a:t>OOP CONCEPTS IN C++</a:t>
            </a:r>
          </a:p>
        </p:txBody>
      </p:sp>
      <p:sp>
        <p:nvSpPr>
          <p:cNvPr id="4" name="TextBox 3"/>
          <p:cNvSpPr txBox="1"/>
          <p:nvPr/>
        </p:nvSpPr>
        <p:spPr>
          <a:xfrm>
            <a:off x="571485" y="1733550"/>
            <a:ext cx="7124521" cy="1257300"/>
          </a:xfrm>
          <a:prstGeom prst="rect">
            <a:avLst/>
          </a:prstGeom>
          <a:noFill/>
        </p:spPr>
        <p:txBody>
          <a:bodyPr wrap="none" lIns="73152" tIns="54864" rIns="73152" bIns="54864" anchor="ctr">
            <a:spAutoFit/>
          </a:bodyPr>
          <a:lstStyle/>
          <a:p>
            <a:pPr algn="l">
              <a:lnSpc>
                <a:spcPts val="4290"/>
              </a:lnSpc>
              <a:spcBef>
                <a:spcPts val="0"/>
              </a:spcBef>
              <a:spcAft>
                <a:spcPts val="1040"/>
              </a:spcAft>
            </a:pPr>
            <a:r>
              <a:rPr sz="3588" b="1">
                <a:solidFill>
                  <a:srgbClr val="9F1239"/>
                </a:solidFill>
                <a:latin typeface="Poppins"/>
              </a:rPr>
              <a:t>Restaurant Management System</a:t>
            </a:r>
          </a:p>
        </p:txBody>
      </p:sp>
      <p:sp>
        <p:nvSpPr>
          <p:cNvPr id="5" name="Rectangle 4"/>
          <p:cNvSpPr/>
          <p:nvPr/>
        </p:nvSpPr>
        <p:spPr>
          <a:xfrm>
            <a:off x="571485" y="3143250"/>
            <a:ext cx="914377" cy="76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1485" y="3409950"/>
            <a:ext cx="7124521" cy="685800"/>
          </a:xfrm>
          <a:prstGeom prst="rect">
            <a:avLst/>
          </a:prstGeom>
          <a:noFill/>
        </p:spPr>
        <p:txBody>
          <a:bodyPr wrap="square" lIns="73152" tIns="54864" rIns="73152" bIns="54864" anchor="ctr">
            <a:spAutoFit/>
          </a:bodyPr>
          <a:lstStyle/>
          <a:p>
            <a:pPr algn="l">
              <a:lnSpc>
                <a:spcPts val="2340"/>
              </a:lnSpc>
              <a:spcBef>
                <a:spcPts val="0"/>
              </a:spcBef>
              <a:spcAft>
                <a:spcPts val="2080"/>
              </a:spcAft>
            </a:pPr>
            <a:r>
              <a:rPr sz="1435" b="0">
                <a:solidFill>
                  <a:srgbClr val="374151"/>
                </a:solidFill>
                <a:latin typeface="Poppins"/>
              </a:rPr>
              <a:t> Demonstrating </a:t>
            </a:r>
            <a:r>
              <a:rPr sz="1435" b="1">
                <a:solidFill>
                  <a:srgbClr val="EA580C"/>
                </a:solidFill>
                <a:latin typeface="Poppins"/>
              </a:rPr>
              <a:t>Object-Oriented Programming</a:t>
            </a:r>
            <a:r>
              <a:rPr sz="1435" b="0">
                <a:solidFill>
                  <a:srgbClr val="374151"/>
                </a:solidFill>
                <a:latin typeface="Poppins"/>
              </a:rPr>
              <a:t> in a Real-World Application </a:t>
            </a:r>
          </a:p>
        </p:txBody>
      </p:sp>
      <p:pic>
        <p:nvPicPr>
          <p:cNvPr id="7" name="Picture 6" descr="image.png"/>
          <p:cNvPicPr>
            <a:picLocks noChangeAspect="1"/>
          </p:cNvPicPr>
          <p:nvPr/>
        </p:nvPicPr>
        <p:blipFill>
          <a:blip r:embed="rId3">
            <a:alphaModFix/>
          </a:blip>
          <a:stretch>
            <a:fillRect/>
          </a:stretch>
        </p:blipFill>
        <p:spPr>
          <a:xfrm>
            <a:off x="666733" y="4778188"/>
            <a:ext cx="190495" cy="140073"/>
          </a:xfrm>
          <a:prstGeom prst="rect">
            <a:avLst/>
          </a:prstGeom>
        </p:spPr>
      </p:pic>
      <p:sp>
        <p:nvSpPr>
          <p:cNvPr id="8" name="TextBox 7"/>
          <p:cNvSpPr txBox="1"/>
          <p:nvPr/>
        </p:nvSpPr>
        <p:spPr>
          <a:xfrm>
            <a:off x="1066773" y="4629150"/>
            <a:ext cx="3114597" cy="152400"/>
          </a:xfrm>
          <a:prstGeom prst="rect">
            <a:avLst/>
          </a:prstGeom>
          <a:noFill/>
        </p:spPr>
        <p:txBody>
          <a:bodyPr wrap="none" lIns="73152" tIns="54864" rIns="73152" bIns="54864" anchor="ctr">
            <a:spAutoFit/>
          </a:bodyPr>
          <a:lstStyle/>
          <a:p>
            <a:pPr algn="l">
              <a:lnSpc>
                <a:spcPts val="1040"/>
              </a:lnSpc>
              <a:spcBef>
                <a:spcPts val="0"/>
              </a:spcBef>
              <a:spcAft>
                <a:spcPts val="0"/>
              </a:spcAft>
            </a:pPr>
            <a:r>
              <a:rPr sz="717" b="0">
                <a:solidFill>
                  <a:srgbClr val="6B7280"/>
                </a:solidFill>
                <a:latin typeface="Apple Color Emoji"/>
              </a:rPr>
              <a:t>PRESENTED BY</a:t>
            </a:r>
          </a:p>
        </p:txBody>
      </p:sp>
      <p:sp>
        <p:nvSpPr>
          <p:cNvPr id="9" name="TextBox 8"/>
          <p:cNvSpPr txBox="1"/>
          <p:nvPr/>
        </p:nvSpPr>
        <p:spPr>
          <a:xfrm>
            <a:off x="1066773" y="4781549"/>
            <a:ext cx="3114597" cy="285750"/>
          </a:xfrm>
          <a:prstGeom prst="rect">
            <a:avLst/>
          </a:prstGeom>
          <a:noFill/>
        </p:spPr>
        <p:txBody>
          <a:bodyPr wrap="none" lIns="73152" tIns="54864" rIns="73152" bIns="54864" anchor="ctr">
            <a:spAutoFit/>
          </a:bodyPr>
          <a:lstStyle/>
          <a:p>
            <a:pPr algn="l">
              <a:lnSpc>
                <a:spcPts val="1950"/>
              </a:lnSpc>
              <a:spcBef>
                <a:spcPts val="0"/>
              </a:spcBef>
              <a:spcAft>
                <a:spcPts val="0"/>
              </a:spcAft>
            </a:pPr>
            <a:r>
              <a:rPr sz="1196" b="1">
                <a:solidFill>
                  <a:srgbClr val="1F2937"/>
                </a:solidFill>
                <a:latin typeface="Poppins"/>
              </a:rPr>
              <a:t>Syed Hammad Hassan </a:t>
            </a:r>
            <a:r>
              <a:rPr sz="956" b="0">
                <a:solidFill>
                  <a:srgbClr val="6B7280"/>
                </a:solidFill>
                <a:latin typeface="Poppins"/>
              </a:rPr>
              <a:t>(ID: 45440)</a:t>
            </a:r>
          </a:p>
        </p:txBody>
      </p:sp>
      <p:pic>
        <p:nvPicPr>
          <p:cNvPr id="10" name="Picture 9" descr="image.png"/>
          <p:cNvPicPr>
            <a:picLocks noChangeAspect="1"/>
          </p:cNvPicPr>
          <p:nvPr/>
        </p:nvPicPr>
        <p:blipFill>
          <a:blip r:embed="rId4">
            <a:alphaModFix/>
          </a:blip>
          <a:stretch>
            <a:fillRect/>
          </a:stretch>
        </p:blipFill>
        <p:spPr>
          <a:xfrm>
            <a:off x="666733" y="5368738"/>
            <a:ext cx="190495" cy="140073"/>
          </a:xfrm>
          <a:prstGeom prst="rect">
            <a:avLst/>
          </a:prstGeom>
        </p:spPr>
      </p:pic>
      <p:sp>
        <p:nvSpPr>
          <p:cNvPr id="11" name="TextBox 10"/>
          <p:cNvSpPr txBox="1"/>
          <p:nvPr/>
        </p:nvSpPr>
        <p:spPr>
          <a:xfrm>
            <a:off x="1066773" y="5219700"/>
            <a:ext cx="1924001" cy="152400"/>
          </a:xfrm>
          <a:prstGeom prst="rect">
            <a:avLst/>
          </a:prstGeom>
          <a:noFill/>
        </p:spPr>
        <p:txBody>
          <a:bodyPr wrap="none" lIns="73152" tIns="54864" rIns="73152" bIns="54864" anchor="ctr">
            <a:spAutoFit/>
          </a:bodyPr>
          <a:lstStyle/>
          <a:p>
            <a:pPr algn="l">
              <a:lnSpc>
                <a:spcPts val="1040"/>
              </a:lnSpc>
              <a:spcBef>
                <a:spcPts val="0"/>
              </a:spcBef>
              <a:spcAft>
                <a:spcPts val="0"/>
              </a:spcAft>
            </a:pPr>
            <a:r>
              <a:rPr sz="717" b="0">
                <a:solidFill>
                  <a:srgbClr val="6B7280"/>
                </a:solidFill>
                <a:latin typeface="Apple Color Emoji"/>
              </a:rPr>
              <a:t>CO-PRESENTER</a:t>
            </a:r>
          </a:p>
        </p:txBody>
      </p:sp>
      <p:sp>
        <p:nvSpPr>
          <p:cNvPr id="12" name="TextBox 11"/>
          <p:cNvSpPr txBox="1"/>
          <p:nvPr/>
        </p:nvSpPr>
        <p:spPr>
          <a:xfrm>
            <a:off x="1066773" y="5372100"/>
            <a:ext cx="1924001" cy="285750"/>
          </a:xfrm>
          <a:prstGeom prst="rect">
            <a:avLst/>
          </a:prstGeom>
          <a:noFill/>
        </p:spPr>
        <p:txBody>
          <a:bodyPr wrap="none" lIns="73152" tIns="54864" rIns="73152" bIns="54864" anchor="ctr">
            <a:spAutoFit/>
          </a:bodyPr>
          <a:lstStyle/>
          <a:p>
            <a:pPr algn="l">
              <a:lnSpc>
                <a:spcPts val="1950"/>
              </a:lnSpc>
              <a:spcBef>
                <a:spcPts val="0"/>
              </a:spcBef>
              <a:spcAft>
                <a:spcPts val="0"/>
              </a:spcAft>
            </a:pPr>
            <a:r>
              <a:rPr sz="1196" b="1">
                <a:solidFill>
                  <a:srgbClr val="1F2937"/>
                </a:solidFill>
                <a:latin typeface="Poppins"/>
              </a:rPr>
              <a:t>Abdul Rauf </a:t>
            </a:r>
            <a:r>
              <a:rPr sz="956" b="0">
                <a:solidFill>
                  <a:srgbClr val="6B7280"/>
                </a:solidFill>
                <a:latin typeface="Poppins"/>
              </a:rPr>
              <a:t>(ID: 47576)</a:t>
            </a:r>
          </a:p>
        </p:txBody>
      </p:sp>
      <p:sp>
        <p:nvSpPr>
          <p:cNvPr id="13" name="Rectangle 12"/>
          <p:cNvSpPr/>
          <p:nvPr/>
        </p:nvSpPr>
        <p:spPr>
          <a:xfrm>
            <a:off x="7924601" y="0"/>
            <a:ext cx="4267093" cy="6858000"/>
          </a:xfrm>
          <a:prstGeom prst="rect">
            <a:avLst/>
          </a:prstGeom>
          <a:blipFill>
            <a:blip r:embed="rId5"/>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924601" y="0"/>
            <a:ext cx="4267093" cy="6858000"/>
          </a:xfrm>
          <a:prstGeom prst="rect">
            <a:avLst/>
          </a:prstGeom>
          <a:solidFill>
            <a:srgbClr val="9F1239">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924907" y="-9526"/>
            <a:ext cx="4267093" cy="6858000"/>
          </a:xfrm>
          <a:prstGeom prst="rect">
            <a:avLst/>
          </a:prstGeom>
          <a:gradFill rotWithShape="1">
            <a:gsLst>
              <a:gs pos="0">
                <a:srgbClr val="000000">
                  <a:alpha val="0"/>
                </a:srgbClr>
              </a:gs>
              <a:gs pos="100000">
                <a:srgbClr val="FFFBEB"/>
              </a:gs>
            </a:gsLst>
            <a:lin ang="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394" y="609600"/>
            <a:ext cx="3009824" cy="342900"/>
          </a:xfrm>
          <a:prstGeom prst="rect">
            <a:avLst/>
          </a:prstGeom>
          <a:noFill/>
        </p:spPr>
        <p:txBody>
          <a:bodyPr wrap="none" lIns="73152" tIns="54864" rIns="73152" bIns="54864" anchor="ctr">
            <a:spAutoFit/>
          </a:bodyPr>
          <a:lstStyle/>
          <a:p>
            <a:pPr algn="l">
              <a:lnSpc>
                <a:spcPts val="2340"/>
              </a:lnSpc>
              <a:spcBef>
                <a:spcPts val="0"/>
              </a:spcBef>
              <a:spcAft>
                <a:spcPts val="1040"/>
              </a:spcAft>
            </a:pPr>
            <a:r>
              <a:rPr sz="1794" b="1">
                <a:solidFill>
                  <a:srgbClr val="FFFFFF"/>
                </a:solidFill>
                <a:latin typeface="Poppins"/>
              </a:rPr>
              <a:t>Lahori Dhabba</a:t>
            </a:r>
          </a:p>
        </p:txBody>
      </p:sp>
      <p:sp>
        <p:nvSpPr>
          <p:cNvPr id="17" name="Rectangle 16"/>
          <p:cNvSpPr/>
          <p:nvPr/>
        </p:nvSpPr>
        <p:spPr>
          <a:xfrm>
            <a:off x="8229394" y="1104900"/>
            <a:ext cx="609584" cy="381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394" y="1295399"/>
            <a:ext cx="3009824" cy="314325"/>
          </a:xfrm>
          <a:prstGeom prst="rect">
            <a:avLst/>
          </a:prstGeom>
          <a:noFill/>
        </p:spPr>
        <p:txBody>
          <a:bodyPr wrap="none" lIns="73152" tIns="54864" rIns="73152" bIns="54864" anchor="ctr">
            <a:spAutoFit/>
          </a:bodyPr>
          <a:lstStyle/>
          <a:p>
            <a:pPr algn="l">
              <a:lnSpc>
                <a:spcPts val="2080"/>
              </a:lnSpc>
              <a:spcBef>
                <a:spcPts val="0"/>
              </a:spcBef>
              <a:spcAft>
                <a:spcPts val="1560"/>
              </a:spcAft>
            </a:pPr>
            <a:r>
              <a:rPr sz="1196" b="0">
                <a:solidFill>
                  <a:srgbClr val="FFFFFF"/>
                </a:solidFill>
                <a:latin typeface="Apple Color Emoji"/>
              </a:rPr>
              <a:t>Traditional Pakistani Restaurant</a:t>
            </a:r>
          </a:p>
        </p:txBody>
      </p:sp>
      <p:sp>
        <p:nvSpPr>
          <p:cNvPr id="19" name="Rounded Rectangle 18"/>
          <p:cNvSpPr/>
          <p:nvPr/>
        </p:nvSpPr>
        <p:spPr>
          <a:xfrm>
            <a:off x="8229394" y="1924049"/>
            <a:ext cx="76198" cy="76200"/>
          </a:xfrm>
          <a:prstGeom prst="roundRect">
            <a:avLst>
              <a:gd name="adj" fmla="val 249975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81790" y="1828800"/>
            <a:ext cx="981050"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0">
                <a:solidFill>
                  <a:srgbClr val="FFFFFF"/>
                </a:solidFill>
                <a:latin typeface="Apple Color Emoji"/>
              </a:rPr>
              <a:t>Abstraction</a:t>
            </a:r>
          </a:p>
        </p:txBody>
      </p:sp>
      <p:sp>
        <p:nvSpPr>
          <p:cNvPr id="21" name="Rounded Rectangle 20"/>
          <p:cNvSpPr/>
          <p:nvPr/>
        </p:nvSpPr>
        <p:spPr>
          <a:xfrm>
            <a:off x="8229394" y="2257425"/>
            <a:ext cx="76198" cy="76200"/>
          </a:xfrm>
          <a:prstGeom prst="roundRect">
            <a:avLst>
              <a:gd name="adj" fmla="val 249975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81790" y="2171700"/>
            <a:ext cx="1200119"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0">
                <a:solidFill>
                  <a:srgbClr val="FFFFFF"/>
                </a:solidFill>
                <a:latin typeface="Apple Color Emoji"/>
              </a:rPr>
              <a:t>Encapsulation</a:t>
            </a:r>
          </a:p>
        </p:txBody>
      </p:sp>
      <p:sp>
        <p:nvSpPr>
          <p:cNvPr id="23" name="Rounded Rectangle 22"/>
          <p:cNvSpPr/>
          <p:nvPr/>
        </p:nvSpPr>
        <p:spPr>
          <a:xfrm>
            <a:off x="8229394" y="2590799"/>
            <a:ext cx="76198" cy="76200"/>
          </a:xfrm>
          <a:prstGeom prst="roundRect">
            <a:avLst>
              <a:gd name="adj" fmla="val 249975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81790" y="2495550"/>
            <a:ext cx="971525"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0">
                <a:solidFill>
                  <a:srgbClr val="FFFFFF"/>
                </a:solidFill>
                <a:latin typeface="Apple Color Emoji"/>
              </a:rPr>
              <a:t>Inheritance</a:t>
            </a:r>
          </a:p>
        </p:txBody>
      </p:sp>
      <p:sp>
        <p:nvSpPr>
          <p:cNvPr id="25" name="Rounded Rectangle 24"/>
          <p:cNvSpPr/>
          <p:nvPr/>
        </p:nvSpPr>
        <p:spPr>
          <a:xfrm>
            <a:off x="8229394" y="2924175"/>
            <a:ext cx="76198" cy="76200"/>
          </a:xfrm>
          <a:prstGeom prst="roundRect">
            <a:avLst>
              <a:gd name="adj" fmla="val 249975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81790" y="2838450"/>
            <a:ext cx="1219169"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0">
                <a:solidFill>
                  <a:srgbClr val="FFFFFF"/>
                </a:solidFill>
                <a:latin typeface="Apple Color Emoji"/>
              </a:rPr>
              <a:t>Polymorphism</a:t>
            </a:r>
          </a:p>
        </p:txBody>
      </p:sp>
      <p:sp>
        <p:nvSpPr>
          <p:cNvPr id="27" name="Rounded Rectangle 26"/>
          <p:cNvSpPr/>
          <p:nvPr/>
        </p:nvSpPr>
        <p:spPr>
          <a:xfrm>
            <a:off x="8229394" y="3257550"/>
            <a:ext cx="76198" cy="76200"/>
          </a:xfrm>
          <a:prstGeom prst="roundRect">
            <a:avLst>
              <a:gd name="adj" fmla="val 249975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81790" y="3162299"/>
            <a:ext cx="1866853"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0">
                <a:solidFill>
                  <a:srgbClr val="FFFFFF"/>
                </a:solidFill>
                <a:latin typeface="Apple Color Emoji"/>
              </a:rPr>
              <a:t>Operator Overloading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BEB"/>
            </a:gs>
            <a:gs pos="100000">
              <a:srgbClr val="FFF7ED"/>
            </a:gs>
          </a:gsLst>
          <a:lin ang="8100000" scaled="0"/>
        </a:gradFill>
        <a:effectLst/>
      </p:bgPr>
    </p:bg>
    <p:spTree>
      <p:nvGrpSpPr>
        <p:cNvPr id="1" name=""/>
        <p:cNvGrpSpPr/>
        <p:nvPr/>
      </p:nvGrpSpPr>
      <p:grpSpPr>
        <a:xfrm>
          <a:off x="0" y="0"/>
          <a:ext cx="0" cy="0"/>
          <a:chOff x="0" y="0"/>
          <a:chExt cx="0" cy="0"/>
        </a:xfrm>
      </p:grpSpPr>
      <p:sp>
        <p:nvSpPr>
          <p:cNvPr id="2" name="TextBox 1"/>
          <p:cNvSpPr txBox="1"/>
          <p:nvPr/>
        </p:nvSpPr>
        <p:spPr>
          <a:xfrm>
            <a:off x="571485" y="304800"/>
            <a:ext cx="11048723" cy="685800"/>
          </a:xfrm>
          <a:prstGeom prst="rect">
            <a:avLst/>
          </a:prstGeom>
          <a:noFill/>
        </p:spPr>
        <p:txBody>
          <a:bodyPr wrap="none" lIns="73152" tIns="54864" rIns="73152" bIns="54864" anchor="ctr">
            <a:spAutoFit/>
          </a:bodyPr>
          <a:lstStyle/>
          <a:p>
            <a:pPr algn="l">
              <a:lnSpc>
                <a:spcPts val="4680"/>
              </a:lnSpc>
              <a:spcBef>
                <a:spcPts val="0"/>
              </a:spcBef>
              <a:spcAft>
                <a:spcPts val="520"/>
              </a:spcAft>
            </a:pPr>
            <a:r>
              <a:rPr sz="2870" b="1">
                <a:solidFill>
                  <a:srgbClr val="9F1239"/>
                </a:solidFill>
                <a:latin typeface="Poppins"/>
              </a:rPr>
              <a:t>Restaurant Management System</a:t>
            </a:r>
          </a:p>
        </p:txBody>
      </p:sp>
      <p:sp>
        <p:nvSpPr>
          <p:cNvPr id="3" name="TextBox 2"/>
          <p:cNvSpPr txBox="1"/>
          <p:nvPr/>
        </p:nvSpPr>
        <p:spPr>
          <a:xfrm>
            <a:off x="571485" y="1066799"/>
            <a:ext cx="11048723" cy="266699"/>
          </a:xfrm>
          <a:prstGeom prst="rect">
            <a:avLst/>
          </a:prstGeom>
          <a:noFill/>
        </p:spPr>
        <p:txBody>
          <a:bodyPr wrap="none" lIns="73152" tIns="54864" rIns="73152" bIns="54864" anchor="ctr">
            <a:spAutoFit/>
          </a:bodyPr>
          <a:lstStyle/>
          <a:p>
            <a:pPr algn="l">
              <a:lnSpc>
                <a:spcPts val="1820"/>
              </a:lnSpc>
              <a:spcBef>
                <a:spcPts val="0"/>
              </a:spcBef>
              <a:spcAft>
                <a:spcPts val="1560"/>
              </a:spcAft>
            </a:pPr>
            <a:r>
              <a:rPr sz="1196" b="0">
                <a:solidFill>
                  <a:srgbClr val="6B7280"/>
                </a:solidFill>
                <a:latin typeface="Poppins"/>
              </a:rPr>
              <a:t>Overview and Purpose</a:t>
            </a:r>
          </a:p>
        </p:txBody>
      </p:sp>
      <p:sp>
        <p:nvSpPr>
          <p:cNvPr id="4" name="Rounded Rectangle 3"/>
          <p:cNvSpPr/>
          <p:nvPr/>
        </p:nvSpPr>
        <p:spPr>
          <a:xfrm>
            <a:off x="571485" y="1562100"/>
            <a:ext cx="5410064" cy="1152524"/>
          </a:xfrm>
          <a:prstGeom prst="roundRect">
            <a:avLst>
              <a:gd name="adj" fmla="val 1983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rot="16200000">
            <a:off x="127303" y="2006282"/>
            <a:ext cx="1152524"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alphaModFix/>
          </a:blip>
          <a:stretch>
            <a:fillRect/>
          </a:stretch>
        </p:blipFill>
        <p:spPr>
          <a:xfrm>
            <a:off x="800079" y="1775460"/>
            <a:ext cx="228594" cy="182879"/>
          </a:xfrm>
          <a:prstGeom prst="rect">
            <a:avLst/>
          </a:prstGeom>
        </p:spPr>
      </p:pic>
      <p:sp>
        <p:nvSpPr>
          <p:cNvPr id="7" name="TextBox 6"/>
          <p:cNvSpPr txBox="1"/>
          <p:nvPr/>
        </p:nvSpPr>
        <p:spPr>
          <a:xfrm>
            <a:off x="1142971" y="1714500"/>
            <a:ext cx="2181170"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What is the System?</a:t>
            </a:r>
          </a:p>
        </p:txBody>
      </p:sp>
      <p:sp>
        <p:nvSpPr>
          <p:cNvPr id="8" name="TextBox 7"/>
          <p:cNvSpPr txBox="1"/>
          <p:nvPr/>
        </p:nvSpPr>
        <p:spPr>
          <a:xfrm>
            <a:off x="800079" y="2105024"/>
            <a:ext cx="5029074" cy="457200"/>
          </a:xfrm>
          <a:prstGeom prst="rect">
            <a:avLst/>
          </a:prstGeom>
          <a:noFill/>
        </p:spPr>
        <p:txBody>
          <a:bodyPr wrap="square" lIns="73152" tIns="54864" rIns="73152" bIns="54864" anchor="ctr">
            <a:spAutoFit/>
          </a:bodyPr>
          <a:lstStyle/>
          <a:p>
            <a:pPr algn="l">
              <a:lnSpc>
                <a:spcPts val="1560"/>
              </a:lnSpc>
              <a:spcBef>
                <a:spcPts val="0"/>
              </a:spcBef>
              <a:spcAft>
                <a:spcPts val="0"/>
              </a:spcAft>
            </a:pPr>
            <a:r>
              <a:rPr sz="956" b="0">
                <a:solidFill>
                  <a:srgbClr val="374151"/>
                </a:solidFill>
                <a:latin typeface="Apple Color Emoji"/>
              </a:rPr>
              <a:t>A C++ software that manages restaurant operations using Object-Oriented Programming principles.</a:t>
            </a:r>
          </a:p>
        </p:txBody>
      </p:sp>
      <p:sp>
        <p:nvSpPr>
          <p:cNvPr id="9" name="Rounded Rectangle 8"/>
          <p:cNvSpPr/>
          <p:nvPr/>
        </p:nvSpPr>
        <p:spPr>
          <a:xfrm>
            <a:off x="571485" y="2867025"/>
            <a:ext cx="5410064" cy="1876424"/>
          </a:xfrm>
          <a:prstGeom prst="roundRect">
            <a:avLst>
              <a:gd name="adj" fmla="val 1218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 Same Side Corner Rectangle 9"/>
          <p:cNvSpPr/>
          <p:nvPr/>
        </p:nvSpPr>
        <p:spPr>
          <a:xfrm rot="16200000">
            <a:off x="-234647" y="3673157"/>
            <a:ext cx="1876424"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3">
            <a:alphaModFix/>
          </a:blip>
          <a:stretch>
            <a:fillRect/>
          </a:stretch>
        </p:blipFill>
        <p:spPr>
          <a:xfrm>
            <a:off x="800079" y="3162560"/>
            <a:ext cx="228594" cy="37578"/>
          </a:xfrm>
          <a:prstGeom prst="rect">
            <a:avLst/>
          </a:prstGeom>
        </p:spPr>
      </p:pic>
      <p:sp>
        <p:nvSpPr>
          <p:cNvPr id="12" name="TextBox 11"/>
          <p:cNvSpPr txBox="1"/>
          <p:nvPr/>
        </p:nvSpPr>
        <p:spPr>
          <a:xfrm>
            <a:off x="1142971" y="3019424"/>
            <a:ext cx="1400139"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Key Features</a:t>
            </a:r>
          </a:p>
        </p:txBody>
      </p:sp>
      <p:sp>
        <p:nvSpPr>
          <p:cNvPr id="13" name="TextBox 12"/>
          <p:cNvSpPr txBox="1"/>
          <p:nvPr/>
        </p:nvSpPr>
        <p:spPr>
          <a:xfrm>
            <a:off x="800079" y="3409950"/>
            <a:ext cx="5029074" cy="266699"/>
          </a:xfrm>
          <a:prstGeom prst="rect">
            <a:avLst/>
          </a:prstGeom>
          <a:noFill/>
        </p:spPr>
        <p:txBody>
          <a:bodyPr wrap="none" lIns="182880" tIns="54864" rIns="73152" bIns="54864" anchor="ctr">
            <a:spAutoFit/>
          </a:bodyPr>
          <a:lstStyle/>
          <a:p>
            <a:pPr algn="l">
              <a:lnSpc>
                <a:spcPts val="1560"/>
              </a:lnSpc>
              <a:spcBef>
                <a:spcPts val="0"/>
              </a:spcBef>
              <a:spcAft>
                <a:spcPts val="0"/>
              </a:spcAft>
            </a:pPr>
            <a:r>
              <a:rPr sz="956" b="0">
                <a:solidFill>
                  <a:srgbClr val="EA580C"/>
                </a:solidFill>
                <a:latin typeface="Apple Color Emoji"/>
              </a:rPr>
              <a:t>•</a:t>
            </a:r>
            <a:r>
              <a:rPr sz="956" b="0">
                <a:solidFill>
                  <a:srgbClr val="374151"/>
                </a:solidFill>
                <a:latin typeface="Apple Color Emoji"/>
              </a:rPr>
              <a:t> Restaurant &amp; branch management</a:t>
            </a:r>
          </a:p>
        </p:txBody>
      </p:sp>
      <p:sp>
        <p:nvSpPr>
          <p:cNvPr id="14" name="TextBox 13"/>
          <p:cNvSpPr txBox="1"/>
          <p:nvPr/>
        </p:nvSpPr>
        <p:spPr>
          <a:xfrm>
            <a:off x="800079" y="3714750"/>
            <a:ext cx="5029074" cy="266699"/>
          </a:xfrm>
          <a:prstGeom prst="rect">
            <a:avLst/>
          </a:prstGeom>
          <a:noFill/>
        </p:spPr>
        <p:txBody>
          <a:bodyPr wrap="none" lIns="182880" tIns="54864" rIns="73152" bIns="54864" anchor="ctr">
            <a:spAutoFit/>
          </a:bodyPr>
          <a:lstStyle/>
          <a:p>
            <a:pPr algn="l">
              <a:lnSpc>
                <a:spcPts val="1560"/>
              </a:lnSpc>
              <a:spcBef>
                <a:spcPts val="260"/>
              </a:spcBef>
              <a:spcAft>
                <a:spcPts val="0"/>
              </a:spcAft>
            </a:pPr>
            <a:r>
              <a:rPr sz="956" b="0">
                <a:solidFill>
                  <a:srgbClr val="EA580C"/>
                </a:solidFill>
                <a:latin typeface="Apple Color Emoji"/>
              </a:rPr>
              <a:t>•</a:t>
            </a:r>
            <a:r>
              <a:rPr sz="956" b="0">
                <a:solidFill>
                  <a:srgbClr val="374151"/>
                </a:solidFill>
                <a:latin typeface="Apple Color Emoji"/>
              </a:rPr>
              <a:t> Staff hierarchy tracking</a:t>
            </a:r>
          </a:p>
        </p:txBody>
      </p:sp>
      <p:sp>
        <p:nvSpPr>
          <p:cNvPr id="15" name="TextBox 14"/>
          <p:cNvSpPr txBox="1"/>
          <p:nvPr/>
        </p:nvSpPr>
        <p:spPr>
          <a:xfrm>
            <a:off x="800079" y="4019549"/>
            <a:ext cx="5029074" cy="266699"/>
          </a:xfrm>
          <a:prstGeom prst="rect">
            <a:avLst/>
          </a:prstGeom>
          <a:noFill/>
        </p:spPr>
        <p:txBody>
          <a:bodyPr wrap="none" lIns="182880" tIns="54864" rIns="73152" bIns="54864" anchor="ctr">
            <a:spAutoFit/>
          </a:bodyPr>
          <a:lstStyle/>
          <a:p>
            <a:pPr algn="l">
              <a:lnSpc>
                <a:spcPts val="1560"/>
              </a:lnSpc>
              <a:spcBef>
                <a:spcPts val="260"/>
              </a:spcBef>
              <a:spcAft>
                <a:spcPts val="0"/>
              </a:spcAft>
            </a:pPr>
            <a:r>
              <a:rPr sz="956" b="0">
                <a:solidFill>
                  <a:srgbClr val="EA580C"/>
                </a:solidFill>
                <a:latin typeface="Apple Color Emoji"/>
              </a:rPr>
              <a:t>•</a:t>
            </a:r>
            <a:r>
              <a:rPr sz="956" b="0">
                <a:solidFill>
                  <a:srgbClr val="374151"/>
                </a:solidFill>
                <a:latin typeface="Apple Color Emoji"/>
              </a:rPr>
              <a:t> Menu item creation &amp; combos</a:t>
            </a:r>
          </a:p>
        </p:txBody>
      </p:sp>
      <p:sp>
        <p:nvSpPr>
          <p:cNvPr id="16" name="TextBox 15"/>
          <p:cNvSpPr txBox="1"/>
          <p:nvPr/>
        </p:nvSpPr>
        <p:spPr>
          <a:xfrm>
            <a:off x="800079" y="4324349"/>
            <a:ext cx="5029074" cy="266699"/>
          </a:xfrm>
          <a:prstGeom prst="rect">
            <a:avLst/>
          </a:prstGeom>
          <a:noFill/>
        </p:spPr>
        <p:txBody>
          <a:bodyPr wrap="none" lIns="182880" tIns="54864" rIns="73152" bIns="54864" anchor="ctr">
            <a:spAutoFit/>
          </a:bodyPr>
          <a:lstStyle/>
          <a:p>
            <a:pPr algn="l">
              <a:lnSpc>
                <a:spcPts val="1560"/>
              </a:lnSpc>
              <a:spcBef>
                <a:spcPts val="260"/>
              </a:spcBef>
              <a:spcAft>
                <a:spcPts val="0"/>
              </a:spcAft>
            </a:pPr>
            <a:r>
              <a:rPr sz="956" b="0">
                <a:solidFill>
                  <a:srgbClr val="EA580C"/>
                </a:solidFill>
                <a:latin typeface="Apple Color Emoji"/>
              </a:rPr>
              <a:t>•</a:t>
            </a:r>
            <a:r>
              <a:rPr sz="956" b="0">
                <a:solidFill>
                  <a:srgbClr val="374151"/>
                </a:solidFill>
                <a:latin typeface="Apple Color Emoji"/>
              </a:rPr>
              <a:t> Order processing &amp; billing</a:t>
            </a:r>
          </a:p>
        </p:txBody>
      </p:sp>
      <p:sp>
        <p:nvSpPr>
          <p:cNvPr id="17" name="Rounded Rectangle 16"/>
          <p:cNvSpPr/>
          <p:nvPr/>
        </p:nvSpPr>
        <p:spPr>
          <a:xfrm>
            <a:off x="571485" y="4895849"/>
            <a:ext cx="5410064" cy="1533525"/>
          </a:xfrm>
          <a:prstGeom prst="roundRect">
            <a:avLst>
              <a:gd name="adj" fmla="val 1490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 Same Side Corner Rectangle 17"/>
          <p:cNvSpPr/>
          <p:nvPr/>
        </p:nvSpPr>
        <p:spPr>
          <a:xfrm rot="16200000">
            <a:off x="-63197" y="5530531"/>
            <a:ext cx="1533525"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4">
            <a:alphaModFix/>
          </a:blip>
          <a:stretch>
            <a:fillRect/>
          </a:stretch>
        </p:blipFill>
        <p:spPr>
          <a:xfrm>
            <a:off x="800079" y="5112067"/>
            <a:ext cx="228594" cy="177164"/>
          </a:xfrm>
          <a:prstGeom prst="rect">
            <a:avLst/>
          </a:prstGeom>
        </p:spPr>
      </p:pic>
      <p:sp>
        <p:nvSpPr>
          <p:cNvPr id="20" name="TextBox 19"/>
          <p:cNvSpPr txBox="1"/>
          <p:nvPr/>
        </p:nvSpPr>
        <p:spPr>
          <a:xfrm>
            <a:off x="1142971" y="5048250"/>
            <a:ext cx="1543011"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OOP Concepts</a:t>
            </a:r>
          </a:p>
        </p:txBody>
      </p:sp>
      <p:sp>
        <p:nvSpPr>
          <p:cNvPr id="21" name="TextBox 20"/>
          <p:cNvSpPr txBox="1"/>
          <p:nvPr/>
        </p:nvSpPr>
        <p:spPr>
          <a:xfrm>
            <a:off x="800079" y="5438774"/>
            <a:ext cx="2476438" cy="228600"/>
          </a:xfrm>
          <a:prstGeom prst="rect">
            <a:avLst/>
          </a:prstGeom>
          <a:noFill/>
        </p:spPr>
        <p:txBody>
          <a:bodyPr wrap="none" lIns="73152" tIns="54864" rIns="73152" bIns="54864" anchor="ctr">
            <a:spAutoFit/>
          </a:bodyPr>
          <a:lstStyle/>
          <a:p>
            <a:pPr algn="l">
              <a:lnSpc>
                <a:spcPts val="1560"/>
              </a:lnSpc>
              <a:spcBef>
                <a:spcPts val="0"/>
              </a:spcBef>
              <a:spcAft>
                <a:spcPts val="0"/>
              </a:spcAft>
            </a:pPr>
            <a:r>
              <a:rPr sz="1104"/>
              <a:t>  </a:t>
            </a:r>
            <a:r>
              <a:rPr sz="956" b="0">
                <a:solidFill>
                  <a:srgbClr val="374151"/>
                </a:solidFill>
                <a:latin typeface="Apple Color Emoji"/>
              </a:rPr>
              <a:t> Abstraction</a:t>
            </a:r>
          </a:p>
        </p:txBody>
      </p:sp>
      <p:pic>
        <p:nvPicPr>
          <p:cNvPr id="22" name="Picture 21" descr="image.png"/>
          <p:cNvPicPr>
            <a:picLocks noChangeAspect="1"/>
          </p:cNvPicPr>
          <p:nvPr/>
        </p:nvPicPr>
        <p:blipFill>
          <a:blip r:embed="rId5">
            <a:alphaModFix/>
          </a:blip>
          <a:stretch>
            <a:fillRect/>
          </a:stretch>
        </p:blipFill>
        <p:spPr>
          <a:xfrm>
            <a:off x="800079" y="5494401"/>
            <a:ext cx="133346" cy="117348"/>
          </a:xfrm>
          <a:prstGeom prst="rect">
            <a:avLst/>
          </a:prstGeom>
        </p:spPr>
      </p:pic>
      <p:sp>
        <p:nvSpPr>
          <p:cNvPr id="23" name="TextBox 22"/>
          <p:cNvSpPr txBox="1"/>
          <p:nvPr/>
        </p:nvSpPr>
        <p:spPr>
          <a:xfrm>
            <a:off x="3352716" y="5438774"/>
            <a:ext cx="2476438" cy="228600"/>
          </a:xfrm>
          <a:prstGeom prst="rect">
            <a:avLst/>
          </a:prstGeom>
          <a:noFill/>
        </p:spPr>
        <p:txBody>
          <a:bodyPr wrap="none" lIns="73152" tIns="54864" rIns="73152" bIns="54864" anchor="ctr">
            <a:spAutoFit/>
          </a:bodyPr>
          <a:lstStyle/>
          <a:p>
            <a:pPr algn="l">
              <a:lnSpc>
                <a:spcPts val="1560"/>
              </a:lnSpc>
              <a:spcBef>
                <a:spcPts val="0"/>
              </a:spcBef>
              <a:spcAft>
                <a:spcPts val="0"/>
              </a:spcAft>
            </a:pPr>
            <a:r>
              <a:rPr sz="1104"/>
              <a:t>  </a:t>
            </a:r>
            <a:r>
              <a:rPr sz="956" b="0">
                <a:solidFill>
                  <a:srgbClr val="374151"/>
                </a:solidFill>
                <a:latin typeface="Apple Color Emoji"/>
              </a:rPr>
              <a:t> Encapsulation</a:t>
            </a:r>
          </a:p>
        </p:txBody>
      </p:sp>
      <p:pic>
        <p:nvPicPr>
          <p:cNvPr id="24" name="Picture 23" descr="image.png"/>
          <p:cNvPicPr>
            <a:picLocks noChangeAspect="1"/>
          </p:cNvPicPr>
          <p:nvPr/>
        </p:nvPicPr>
        <p:blipFill>
          <a:blip r:embed="rId5">
            <a:alphaModFix/>
          </a:blip>
          <a:stretch>
            <a:fillRect/>
          </a:stretch>
        </p:blipFill>
        <p:spPr>
          <a:xfrm>
            <a:off x="3352716" y="5494401"/>
            <a:ext cx="133346" cy="117348"/>
          </a:xfrm>
          <a:prstGeom prst="rect">
            <a:avLst/>
          </a:prstGeom>
        </p:spPr>
      </p:pic>
      <p:sp>
        <p:nvSpPr>
          <p:cNvPr id="25" name="TextBox 24"/>
          <p:cNvSpPr txBox="1"/>
          <p:nvPr/>
        </p:nvSpPr>
        <p:spPr>
          <a:xfrm>
            <a:off x="800079" y="5743575"/>
            <a:ext cx="2476438" cy="228600"/>
          </a:xfrm>
          <a:prstGeom prst="rect">
            <a:avLst/>
          </a:prstGeom>
          <a:noFill/>
        </p:spPr>
        <p:txBody>
          <a:bodyPr wrap="none" lIns="73152" tIns="54864" rIns="73152" bIns="54864" anchor="ctr">
            <a:spAutoFit/>
          </a:bodyPr>
          <a:lstStyle/>
          <a:p>
            <a:pPr algn="l">
              <a:lnSpc>
                <a:spcPts val="1560"/>
              </a:lnSpc>
              <a:spcBef>
                <a:spcPts val="0"/>
              </a:spcBef>
              <a:spcAft>
                <a:spcPts val="0"/>
              </a:spcAft>
            </a:pPr>
            <a:r>
              <a:rPr sz="1104"/>
              <a:t>  </a:t>
            </a:r>
            <a:r>
              <a:rPr sz="956" b="0">
                <a:solidFill>
                  <a:srgbClr val="374151"/>
                </a:solidFill>
                <a:latin typeface="Apple Color Emoji"/>
              </a:rPr>
              <a:t> Inheritance</a:t>
            </a:r>
          </a:p>
        </p:txBody>
      </p:sp>
      <p:pic>
        <p:nvPicPr>
          <p:cNvPr id="26" name="Picture 25" descr="image.png"/>
          <p:cNvPicPr>
            <a:picLocks noChangeAspect="1"/>
          </p:cNvPicPr>
          <p:nvPr/>
        </p:nvPicPr>
        <p:blipFill>
          <a:blip r:embed="rId5">
            <a:alphaModFix/>
          </a:blip>
          <a:stretch>
            <a:fillRect/>
          </a:stretch>
        </p:blipFill>
        <p:spPr>
          <a:xfrm>
            <a:off x="800079" y="5799201"/>
            <a:ext cx="133346" cy="117348"/>
          </a:xfrm>
          <a:prstGeom prst="rect">
            <a:avLst/>
          </a:prstGeom>
        </p:spPr>
      </p:pic>
      <p:sp>
        <p:nvSpPr>
          <p:cNvPr id="27" name="TextBox 26"/>
          <p:cNvSpPr txBox="1"/>
          <p:nvPr/>
        </p:nvSpPr>
        <p:spPr>
          <a:xfrm>
            <a:off x="3352716" y="5743575"/>
            <a:ext cx="2476438" cy="228600"/>
          </a:xfrm>
          <a:prstGeom prst="rect">
            <a:avLst/>
          </a:prstGeom>
          <a:noFill/>
        </p:spPr>
        <p:txBody>
          <a:bodyPr wrap="none" lIns="73152" tIns="54864" rIns="73152" bIns="54864" anchor="ctr">
            <a:spAutoFit/>
          </a:bodyPr>
          <a:lstStyle/>
          <a:p>
            <a:pPr algn="l">
              <a:lnSpc>
                <a:spcPts val="1560"/>
              </a:lnSpc>
              <a:spcBef>
                <a:spcPts val="0"/>
              </a:spcBef>
              <a:spcAft>
                <a:spcPts val="0"/>
              </a:spcAft>
            </a:pPr>
            <a:r>
              <a:rPr sz="1104"/>
              <a:t>  </a:t>
            </a:r>
            <a:r>
              <a:rPr sz="956" b="0">
                <a:solidFill>
                  <a:srgbClr val="374151"/>
                </a:solidFill>
                <a:latin typeface="Apple Color Emoji"/>
              </a:rPr>
              <a:t> Polymorphism</a:t>
            </a:r>
          </a:p>
        </p:txBody>
      </p:sp>
      <p:pic>
        <p:nvPicPr>
          <p:cNvPr id="28" name="Picture 27" descr="image.png"/>
          <p:cNvPicPr>
            <a:picLocks noChangeAspect="1"/>
          </p:cNvPicPr>
          <p:nvPr/>
        </p:nvPicPr>
        <p:blipFill>
          <a:blip r:embed="rId5">
            <a:alphaModFix/>
          </a:blip>
          <a:stretch>
            <a:fillRect/>
          </a:stretch>
        </p:blipFill>
        <p:spPr>
          <a:xfrm>
            <a:off x="3352716" y="5799201"/>
            <a:ext cx="133346" cy="117348"/>
          </a:xfrm>
          <a:prstGeom prst="rect">
            <a:avLst/>
          </a:prstGeom>
        </p:spPr>
      </p:pic>
      <p:sp>
        <p:nvSpPr>
          <p:cNvPr id="29" name="TextBox 28"/>
          <p:cNvSpPr txBox="1"/>
          <p:nvPr/>
        </p:nvSpPr>
        <p:spPr>
          <a:xfrm>
            <a:off x="800079" y="6048375"/>
            <a:ext cx="2476438" cy="228600"/>
          </a:xfrm>
          <a:prstGeom prst="rect">
            <a:avLst/>
          </a:prstGeom>
          <a:noFill/>
        </p:spPr>
        <p:txBody>
          <a:bodyPr wrap="none" lIns="73152" tIns="54864" rIns="73152" bIns="54864" anchor="ctr">
            <a:spAutoFit/>
          </a:bodyPr>
          <a:lstStyle/>
          <a:p>
            <a:pPr algn="l">
              <a:lnSpc>
                <a:spcPts val="1560"/>
              </a:lnSpc>
              <a:spcBef>
                <a:spcPts val="0"/>
              </a:spcBef>
              <a:spcAft>
                <a:spcPts val="0"/>
              </a:spcAft>
            </a:pPr>
            <a:r>
              <a:rPr sz="1104"/>
              <a:t>  </a:t>
            </a:r>
            <a:r>
              <a:rPr sz="956" b="0">
                <a:solidFill>
                  <a:srgbClr val="374151"/>
                </a:solidFill>
                <a:latin typeface="Apple Color Emoji"/>
              </a:rPr>
              <a:t> Pure Virtual Functions</a:t>
            </a:r>
          </a:p>
        </p:txBody>
      </p:sp>
      <p:pic>
        <p:nvPicPr>
          <p:cNvPr id="30" name="Picture 29" descr="image.png"/>
          <p:cNvPicPr>
            <a:picLocks noChangeAspect="1"/>
          </p:cNvPicPr>
          <p:nvPr/>
        </p:nvPicPr>
        <p:blipFill>
          <a:blip r:embed="rId5">
            <a:alphaModFix/>
          </a:blip>
          <a:stretch>
            <a:fillRect/>
          </a:stretch>
        </p:blipFill>
        <p:spPr>
          <a:xfrm>
            <a:off x="800079" y="6104001"/>
            <a:ext cx="133346" cy="117348"/>
          </a:xfrm>
          <a:prstGeom prst="rect">
            <a:avLst/>
          </a:prstGeom>
        </p:spPr>
      </p:pic>
      <p:sp>
        <p:nvSpPr>
          <p:cNvPr id="31" name="TextBox 30"/>
          <p:cNvSpPr txBox="1"/>
          <p:nvPr/>
        </p:nvSpPr>
        <p:spPr>
          <a:xfrm>
            <a:off x="3352716" y="6048375"/>
            <a:ext cx="2476438" cy="228600"/>
          </a:xfrm>
          <a:prstGeom prst="rect">
            <a:avLst/>
          </a:prstGeom>
          <a:noFill/>
        </p:spPr>
        <p:txBody>
          <a:bodyPr wrap="none" lIns="73152" tIns="54864" rIns="73152" bIns="54864" anchor="ctr">
            <a:spAutoFit/>
          </a:bodyPr>
          <a:lstStyle/>
          <a:p>
            <a:pPr algn="l">
              <a:lnSpc>
                <a:spcPts val="1560"/>
              </a:lnSpc>
              <a:spcBef>
                <a:spcPts val="0"/>
              </a:spcBef>
              <a:spcAft>
                <a:spcPts val="0"/>
              </a:spcAft>
            </a:pPr>
            <a:r>
              <a:rPr sz="1104"/>
              <a:t>  </a:t>
            </a:r>
            <a:r>
              <a:rPr sz="956" b="0">
                <a:solidFill>
                  <a:srgbClr val="374151"/>
                </a:solidFill>
                <a:latin typeface="Apple Color Emoji"/>
              </a:rPr>
              <a:t> Operator Overloading</a:t>
            </a:r>
          </a:p>
        </p:txBody>
      </p:sp>
      <p:pic>
        <p:nvPicPr>
          <p:cNvPr id="32" name="Picture 31" descr="image.png"/>
          <p:cNvPicPr>
            <a:picLocks noChangeAspect="1"/>
          </p:cNvPicPr>
          <p:nvPr/>
        </p:nvPicPr>
        <p:blipFill>
          <a:blip r:embed="rId5">
            <a:alphaModFix/>
          </a:blip>
          <a:stretch>
            <a:fillRect/>
          </a:stretch>
        </p:blipFill>
        <p:spPr>
          <a:xfrm>
            <a:off x="3352716" y="6104001"/>
            <a:ext cx="133346" cy="117348"/>
          </a:xfrm>
          <a:prstGeom prst="rect">
            <a:avLst/>
          </a:prstGeom>
        </p:spPr>
      </p:pic>
      <p:sp>
        <p:nvSpPr>
          <p:cNvPr id="33" name="Rectangle 32"/>
          <p:cNvSpPr/>
          <p:nvPr/>
        </p:nvSpPr>
        <p:spPr>
          <a:xfrm>
            <a:off x="6210144" y="1562100"/>
            <a:ext cx="5410064" cy="2476499"/>
          </a:xfrm>
          <a:prstGeom prst="rect">
            <a:avLst/>
          </a:prstGeom>
          <a:blipFill>
            <a:blip r:embed="rId6"/>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210144" y="4190999"/>
            <a:ext cx="5410064" cy="2514600"/>
          </a:xfrm>
          <a:prstGeom prst="rect">
            <a:avLst/>
          </a:prstGeom>
          <a:blipFill>
            <a:blip r:embed="rId7"/>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BEB"/>
            </a:gs>
            <a:gs pos="100000">
              <a:srgbClr val="FFF7ED"/>
            </a:gs>
          </a:gsLst>
          <a:lin ang="8100000" scaled="0"/>
        </a:gradFill>
        <a:effectLst/>
      </p:bgPr>
    </p:bg>
    <p:spTree>
      <p:nvGrpSpPr>
        <p:cNvPr id="1" name=""/>
        <p:cNvGrpSpPr/>
        <p:nvPr/>
      </p:nvGrpSpPr>
      <p:grpSpPr>
        <a:xfrm>
          <a:off x="0" y="0"/>
          <a:ext cx="0" cy="0"/>
          <a:chOff x="0" y="0"/>
          <a:chExt cx="0" cy="0"/>
        </a:xfrm>
      </p:grpSpPr>
      <p:sp>
        <p:nvSpPr>
          <p:cNvPr id="2" name="TextBox 1"/>
          <p:cNvSpPr txBox="1"/>
          <p:nvPr/>
        </p:nvSpPr>
        <p:spPr>
          <a:xfrm>
            <a:off x="571485" y="304800"/>
            <a:ext cx="11048723" cy="685800"/>
          </a:xfrm>
          <a:prstGeom prst="rect">
            <a:avLst/>
          </a:prstGeom>
          <a:noFill/>
        </p:spPr>
        <p:txBody>
          <a:bodyPr wrap="none" lIns="73152" tIns="54864" rIns="73152" bIns="54864" anchor="ctr">
            <a:spAutoFit/>
          </a:bodyPr>
          <a:lstStyle/>
          <a:p>
            <a:pPr algn="l">
              <a:lnSpc>
                <a:spcPts val="4680"/>
              </a:lnSpc>
              <a:spcBef>
                <a:spcPts val="0"/>
              </a:spcBef>
              <a:spcAft>
                <a:spcPts val="520"/>
              </a:spcAft>
            </a:pPr>
            <a:r>
              <a:rPr sz="2870" b="1">
                <a:solidFill>
                  <a:srgbClr val="9F1239"/>
                </a:solidFill>
                <a:latin typeface="Poppins"/>
              </a:rPr>
              <a:t>Abstraction &amp; Pure Virtual Functions</a:t>
            </a:r>
          </a:p>
        </p:txBody>
      </p:sp>
      <p:sp>
        <p:nvSpPr>
          <p:cNvPr id="3" name="TextBox 2"/>
          <p:cNvSpPr txBox="1"/>
          <p:nvPr/>
        </p:nvSpPr>
        <p:spPr>
          <a:xfrm>
            <a:off x="571485" y="1066799"/>
            <a:ext cx="11048723" cy="266699"/>
          </a:xfrm>
          <a:prstGeom prst="rect">
            <a:avLst/>
          </a:prstGeom>
          <a:noFill/>
        </p:spPr>
        <p:txBody>
          <a:bodyPr wrap="none" lIns="73152" tIns="54864" rIns="73152" bIns="54864" anchor="ctr">
            <a:spAutoFit/>
          </a:bodyPr>
          <a:lstStyle/>
          <a:p>
            <a:pPr algn="l">
              <a:lnSpc>
                <a:spcPts val="1820"/>
              </a:lnSpc>
              <a:spcBef>
                <a:spcPts val="0"/>
              </a:spcBef>
              <a:spcAft>
                <a:spcPts val="1560"/>
              </a:spcAft>
            </a:pPr>
            <a:r>
              <a:rPr sz="1196" b="0">
                <a:solidFill>
                  <a:srgbClr val="6B7280"/>
                </a:solidFill>
                <a:latin typeface="Poppins"/>
              </a:rPr>
              <a:t>Hiding Implementation Details</a:t>
            </a:r>
          </a:p>
        </p:txBody>
      </p:sp>
      <p:sp>
        <p:nvSpPr>
          <p:cNvPr id="4" name="Rounded Rectangle 3"/>
          <p:cNvSpPr/>
          <p:nvPr/>
        </p:nvSpPr>
        <p:spPr>
          <a:xfrm>
            <a:off x="571485" y="1562100"/>
            <a:ext cx="5410064" cy="1371600"/>
          </a:xfrm>
          <a:prstGeom prst="roundRect">
            <a:avLst>
              <a:gd name="adj" fmla="val 1666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rot="16200000">
            <a:off x="17765" y="2115820"/>
            <a:ext cx="1371600"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alphaModFix/>
          </a:blip>
          <a:stretch>
            <a:fillRect/>
          </a:stretch>
        </p:blipFill>
        <p:spPr>
          <a:xfrm>
            <a:off x="800079" y="1774031"/>
            <a:ext cx="228594" cy="185737"/>
          </a:xfrm>
          <a:prstGeom prst="rect">
            <a:avLst/>
          </a:prstGeom>
        </p:spPr>
      </p:pic>
      <p:sp>
        <p:nvSpPr>
          <p:cNvPr id="7" name="TextBox 6"/>
          <p:cNvSpPr txBox="1"/>
          <p:nvPr/>
        </p:nvSpPr>
        <p:spPr>
          <a:xfrm>
            <a:off x="1142971" y="1714500"/>
            <a:ext cx="2247843"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What is Abstraction?</a:t>
            </a:r>
          </a:p>
        </p:txBody>
      </p:sp>
      <p:sp>
        <p:nvSpPr>
          <p:cNvPr id="8" name="TextBox 7"/>
          <p:cNvSpPr txBox="1"/>
          <p:nvPr/>
        </p:nvSpPr>
        <p:spPr>
          <a:xfrm>
            <a:off x="800079" y="2105024"/>
            <a:ext cx="5029074" cy="228600"/>
          </a:xfrm>
          <a:prstGeom prst="rect">
            <a:avLst/>
          </a:prstGeom>
          <a:noFill/>
        </p:spPr>
        <p:txBody>
          <a:bodyPr wrap="none" lIns="73152" tIns="54864" rIns="73152" bIns="54864" anchor="ctr">
            <a:spAutoFit/>
          </a:bodyPr>
          <a:lstStyle/>
          <a:p>
            <a:pPr algn="l">
              <a:lnSpc>
                <a:spcPts val="1560"/>
              </a:lnSpc>
              <a:spcBef>
                <a:spcPts val="0"/>
              </a:spcBef>
              <a:spcAft>
                <a:spcPts val="520"/>
              </a:spcAft>
            </a:pPr>
            <a:r>
              <a:rPr sz="956" b="0">
                <a:solidFill>
                  <a:srgbClr val="374151"/>
                </a:solidFill>
                <a:latin typeface="Apple Color Emoji"/>
              </a:rPr>
              <a:t>Hiding complex details and showing only essential features.</a:t>
            </a:r>
          </a:p>
        </p:txBody>
      </p:sp>
      <p:sp>
        <p:nvSpPr>
          <p:cNvPr id="9" name="Rounded Rectangle 8"/>
          <p:cNvSpPr/>
          <p:nvPr/>
        </p:nvSpPr>
        <p:spPr>
          <a:xfrm>
            <a:off x="800079" y="2409825"/>
            <a:ext cx="5029074" cy="371475"/>
          </a:xfrm>
          <a:prstGeom prst="roundRect">
            <a:avLst>
              <a:gd name="adj" fmla="val 41025"/>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6278" y="2486025"/>
            <a:ext cx="4876678" cy="219074"/>
          </a:xfrm>
          <a:prstGeom prst="rect">
            <a:avLst/>
          </a:prstGeom>
          <a:noFill/>
        </p:spPr>
        <p:txBody>
          <a:bodyPr wrap="none" lIns="73152" tIns="54864" rIns="73152" bIns="54864" anchor="ctr">
            <a:spAutoFit/>
          </a:bodyPr>
          <a:lstStyle/>
          <a:p>
            <a:pPr algn="l">
              <a:lnSpc>
                <a:spcPts val="1430"/>
              </a:lnSpc>
              <a:spcBef>
                <a:spcPts val="0"/>
              </a:spcBef>
              <a:spcAft>
                <a:spcPts val="0"/>
              </a:spcAft>
            </a:pPr>
            <a:r>
              <a:rPr sz="897" b="1">
                <a:solidFill>
                  <a:srgbClr val="9F1239"/>
                </a:solidFill>
                <a:latin typeface="Apple Color Emoji"/>
              </a:rPr>
              <a:t>Key:</a:t>
            </a:r>
            <a:r>
              <a:rPr sz="897" b="0">
                <a:solidFill>
                  <a:srgbClr val="374151"/>
                </a:solidFill>
                <a:latin typeface="Apple Color Emoji"/>
              </a:rPr>
              <a:t> Show "what" not "how"</a:t>
            </a:r>
          </a:p>
        </p:txBody>
      </p:sp>
      <p:sp>
        <p:nvSpPr>
          <p:cNvPr id="11" name="Rounded Rectangle 10"/>
          <p:cNvSpPr/>
          <p:nvPr/>
        </p:nvSpPr>
        <p:spPr>
          <a:xfrm>
            <a:off x="571485" y="3086100"/>
            <a:ext cx="5410064" cy="1371600"/>
          </a:xfrm>
          <a:prstGeom prst="roundRect">
            <a:avLst>
              <a:gd name="adj" fmla="val 1666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 Same Side Corner Rectangle 11"/>
          <p:cNvSpPr/>
          <p:nvPr/>
        </p:nvSpPr>
        <p:spPr>
          <a:xfrm rot="16200000">
            <a:off x="17765" y="3639820"/>
            <a:ext cx="1371600"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3">
            <a:alphaModFix/>
          </a:blip>
          <a:stretch>
            <a:fillRect/>
          </a:stretch>
        </p:blipFill>
        <p:spPr>
          <a:xfrm>
            <a:off x="800079" y="3308032"/>
            <a:ext cx="228594" cy="165734"/>
          </a:xfrm>
          <a:prstGeom prst="rect">
            <a:avLst/>
          </a:prstGeom>
        </p:spPr>
      </p:pic>
      <p:sp>
        <p:nvSpPr>
          <p:cNvPr id="14" name="TextBox 13"/>
          <p:cNvSpPr txBox="1"/>
          <p:nvPr/>
        </p:nvSpPr>
        <p:spPr>
          <a:xfrm>
            <a:off x="1142971" y="3238500"/>
            <a:ext cx="2381190"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Pure Virtual Functions</a:t>
            </a:r>
          </a:p>
        </p:txBody>
      </p:sp>
      <p:sp>
        <p:nvSpPr>
          <p:cNvPr id="15" name="TextBox 14"/>
          <p:cNvSpPr txBox="1"/>
          <p:nvPr/>
        </p:nvSpPr>
        <p:spPr>
          <a:xfrm>
            <a:off x="800079" y="3619499"/>
            <a:ext cx="5029074" cy="228600"/>
          </a:xfrm>
          <a:prstGeom prst="rect">
            <a:avLst/>
          </a:prstGeom>
          <a:noFill/>
        </p:spPr>
        <p:txBody>
          <a:bodyPr wrap="none" lIns="73152" tIns="54864" rIns="73152" bIns="54864" anchor="ctr">
            <a:spAutoFit/>
          </a:bodyPr>
          <a:lstStyle/>
          <a:p>
            <a:pPr algn="l">
              <a:lnSpc>
                <a:spcPts val="1560"/>
              </a:lnSpc>
              <a:spcBef>
                <a:spcPts val="0"/>
              </a:spcBef>
              <a:spcAft>
                <a:spcPts val="520"/>
              </a:spcAft>
            </a:pPr>
            <a:r>
              <a:rPr sz="956" b="0">
                <a:solidFill>
                  <a:srgbClr val="374151"/>
                </a:solidFill>
                <a:latin typeface="Apple Color Emoji"/>
              </a:rPr>
              <a:t>Forces derived classes to implement the function.</a:t>
            </a:r>
          </a:p>
        </p:txBody>
      </p:sp>
      <p:sp>
        <p:nvSpPr>
          <p:cNvPr id="16" name="Rounded Rectangle 15"/>
          <p:cNvSpPr/>
          <p:nvPr/>
        </p:nvSpPr>
        <p:spPr>
          <a:xfrm>
            <a:off x="800079" y="3924299"/>
            <a:ext cx="5029074" cy="371475"/>
          </a:xfrm>
          <a:prstGeom prst="roundRect">
            <a:avLst>
              <a:gd name="adj" fmla="val 41025"/>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6278" y="4000500"/>
            <a:ext cx="4876678" cy="219074"/>
          </a:xfrm>
          <a:prstGeom prst="rect">
            <a:avLst/>
          </a:prstGeom>
          <a:noFill/>
        </p:spPr>
        <p:txBody>
          <a:bodyPr wrap="none" lIns="73152" tIns="54864" rIns="73152" bIns="54864" anchor="ctr">
            <a:spAutoFit/>
          </a:bodyPr>
          <a:lstStyle/>
          <a:p>
            <a:pPr algn="l">
              <a:lnSpc>
                <a:spcPts val="1430"/>
              </a:lnSpc>
              <a:spcBef>
                <a:spcPts val="0"/>
              </a:spcBef>
              <a:spcAft>
                <a:spcPts val="0"/>
              </a:spcAft>
            </a:pPr>
            <a:r>
              <a:rPr sz="897" b="1">
                <a:solidFill>
                  <a:srgbClr val="D97706"/>
                </a:solidFill>
                <a:latin typeface="Apple Color Emoji"/>
              </a:rPr>
              <a:t>Example:</a:t>
            </a:r>
            <a:r>
              <a:rPr sz="897" b="0">
                <a:solidFill>
                  <a:srgbClr val="374151"/>
                </a:solidFill>
                <a:latin typeface="Apple Color Emoji"/>
              </a:rPr>
              <a:t> Person class defines display() = 0</a:t>
            </a:r>
          </a:p>
        </p:txBody>
      </p:sp>
      <p:sp>
        <p:nvSpPr>
          <p:cNvPr id="18" name="Rounded Rectangle 17"/>
          <p:cNvSpPr/>
          <p:nvPr/>
        </p:nvSpPr>
        <p:spPr>
          <a:xfrm>
            <a:off x="571485" y="4600575"/>
            <a:ext cx="5410064" cy="1485900"/>
          </a:xfrm>
          <a:prstGeom prst="roundRect">
            <a:avLst>
              <a:gd name="adj" fmla="val 15384"/>
            </a:avLst>
          </a:prstGeom>
          <a:solidFill>
            <a:srgbClr val="FFFFFF"/>
          </a:solidFill>
          <a:ln w="825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4">
            <a:alphaModFix/>
          </a:blip>
          <a:stretch>
            <a:fillRect/>
          </a:stretch>
        </p:blipFill>
        <p:spPr>
          <a:xfrm>
            <a:off x="733406" y="4830711"/>
            <a:ext cx="171445" cy="149327"/>
          </a:xfrm>
          <a:prstGeom prst="rect">
            <a:avLst/>
          </a:prstGeom>
        </p:spPr>
      </p:pic>
      <p:sp>
        <p:nvSpPr>
          <p:cNvPr id="20" name="TextBox 19"/>
          <p:cNvSpPr txBox="1"/>
          <p:nvPr/>
        </p:nvSpPr>
        <p:spPr>
          <a:xfrm>
            <a:off x="733406" y="5124449"/>
            <a:ext cx="5086222" cy="219074"/>
          </a:xfrm>
          <a:prstGeom prst="rect">
            <a:avLst/>
          </a:prstGeom>
          <a:noFill/>
        </p:spPr>
        <p:txBody>
          <a:bodyPr wrap="none" lIns="182880" tIns="54864" rIns="73152" bIns="54864" anchor="ctr">
            <a:spAutoFit/>
          </a:bodyPr>
          <a:lstStyle/>
          <a:p>
            <a:pPr algn="l">
              <a:lnSpc>
                <a:spcPts val="1430"/>
              </a:lnSpc>
              <a:spcBef>
                <a:spcPts val="0"/>
              </a:spcBef>
              <a:spcAft>
                <a:spcPts val="0"/>
              </a:spcAft>
            </a:pPr>
            <a:r>
              <a:rPr sz="1104"/>
              <a:t>  </a:t>
            </a:r>
            <a:r>
              <a:rPr sz="897" b="0">
                <a:solidFill>
                  <a:srgbClr val="374151"/>
                </a:solidFill>
                <a:latin typeface="Apple Color Emoji"/>
              </a:rPr>
              <a:t> Person as Abstract Class</a:t>
            </a:r>
          </a:p>
        </p:txBody>
      </p:sp>
      <p:pic>
        <p:nvPicPr>
          <p:cNvPr id="21" name="Picture 20" descr="image.png"/>
          <p:cNvPicPr>
            <a:picLocks noChangeAspect="1"/>
          </p:cNvPicPr>
          <p:nvPr/>
        </p:nvPicPr>
        <p:blipFill>
          <a:blip r:embed="rId5">
            <a:alphaModFix/>
          </a:blip>
          <a:stretch>
            <a:fillRect/>
          </a:stretch>
        </p:blipFill>
        <p:spPr>
          <a:xfrm>
            <a:off x="733406" y="5161026"/>
            <a:ext cx="133346" cy="117348"/>
          </a:xfrm>
          <a:prstGeom prst="rect">
            <a:avLst/>
          </a:prstGeom>
        </p:spPr>
      </p:pic>
      <p:sp>
        <p:nvSpPr>
          <p:cNvPr id="22" name="TextBox 21"/>
          <p:cNvSpPr txBox="1"/>
          <p:nvPr/>
        </p:nvSpPr>
        <p:spPr>
          <a:xfrm>
            <a:off x="733406" y="5410199"/>
            <a:ext cx="5086222" cy="219074"/>
          </a:xfrm>
          <a:prstGeom prst="rect">
            <a:avLst/>
          </a:prstGeom>
          <a:noFill/>
        </p:spPr>
        <p:txBody>
          <a:bodyPr wrap="none" lIns="182880" tIns="54864" rIns="73152" bIns="54864" anchor="ctr">
            <a:spAutoFit/>
          </a:bodyPr>
          <a:lstStyle/>
          <a:p>
            <a:pPr algn="l">
              <a:lnSpc>
                <a:spcPts val="1430"/>
              </a:lnSpc>
              <a:spcBef>
                <a:spcPts val="520"/>
              </a:spcBef>
              <a:spcAft>
                <a:spcPts val="0"/>
              </a:spcAft>
            </a:pPr>
            <a:r>
              <a:rPr sz="1104"/>
              <a:t>  </a:t>
            </a:r>
            <a:r>
              <a:rPr sz="897" b="0">
                <a:solidFill>
                  <a:srgbClr val="374151"/>
                </a:solidFill>
                <a:latin typeface="Apple Color Emoji"/>
              </a:rPr>
              <a:t> Employee as Abstract Class</a:t>
            </a:r>
          </a:p>
        </p:txBody>
      </p:sp>
      <p:pic>
        <p:nvPicPr>
          <p:cNvPr id="23" name="Picture 22" descr="image.png"/>
          <p:cNvPicPr>
            <a:picLocks noChangeAspect="1"/>
          </p:cNvPicPr>
          <p:nvPr/>
        </p:nvPicPr>
        <p:blipFill>
          <a:blip r:embed="rId5">
            <a:alphaModFix/>
          </a:blip>
          <a:stretch>
            <a:fillRect/>
          </a:stretch>
        </p:blipFill>
        <p:spPr>
          <a:xfrm>
            <a:off x="733406" y="5446776"/>
            <a:ext cx="133346" cy="117348"/>
          </a:xfrm>
          <a:prstGeom prst="rect">
            <a:avLst/>
          </a:prstGeom>
        </p:spPr>
      </p:pic>
      <p:sp>
        <p:nvSpPr>
          <p:cNvPr id="24" name="TextBox 23"/>
          <p:cNvSpPr txBox="1"/>
          <p:nvPr/>
        </p:nvSpPr>
        <p:spPr>
          <a:xfrm>
            <a:off x="733406" y="5705475"/>
            <a:ext cx="5086222" cy="219074"/>
          </a:xfrm>
          <a:prstGeom prst="rect">
            <a:avLst/>
          </a:prstGeom>
          <a:noFill/>
        </p:spPr>
        <p:txBody>
          <a:bodyPr wrap="none" lIns="182880" tIns="54864" rIns="73152" bIns="54864" anchor="ctr">
            <a:spAutoFit/>
          </a:bodyPr>
          <a:lstStyle/>
          <a:p>
            <a:pPr algn="l">
              <a:lnSpc>
                <a:spcPts val="1430"/>
              </a:lnSpc>
              <a:spcBef>
                <a:spcPts val="520"/>
              </a:spcBef>
              <a:spcAft>
                <a:spcPts val="0"/>
              </a:spcAft>
            </a:pPr>
            <a:r>
              <a:rPr sz="1104"/>
              <a:t>  </a:t>
            </a:r>
            <a:r>
              <a:rPr sz="897" b="0">
                <a:solidFill>
                  <a:srgbClr val="374151"/>
                </a:solidFill>
                <a:latin typeface="Apple Color Emoji"/>
              </a:rPr>
              <a:t> Concrete Implementations in Manager &amp; HeadManager</a:t>
            </a:r>
          </a:p>
        </p:txBody>
      </p:sp>
      <p:pic>
        <p:nvPicPr>
          <p:cNvPr id="25" name="Picture 24" descr="image.png"/>
          <p:cNvPicPr>
            <a:picLocks noChangeAspect="1"/>
          </p:cNvPicPr>
          <p:nvPr/>
        </p:nvPicPr>
        <p:blipFill>
          <a:blip r:embed="rId5">
            <a:alphaModFix/>
          </a:blip>
          <a:stretch>
            <a:fillRect/>
          </a:stretch>
        </p:blipFill>
        <p:spPr>
          <a:xfrm>
            <a:off x="733406" y="5742051"/>
            <a:ext cx="133346" cy="117348"/>
          </a:xfrm>
          <a:prstGeom prst="rect">
            <a:avLst/>
          </a:prstGeom>
        </p:spPr>
      </p:pic>
      <p:sp>
        <p:nvSpPr>
          <p:cNvPr id="26" name="Rectangle 25"/>
          <p:cNvSpPr/>
          <p:nvPr/>
        </p:nvSpPr>
        <p:spPr>
          <a:xfrm>
            <a:off x="6210144" y="1562100"/>
            <a:ext cx="5410064" cy="2514600"/>
          </a:xfrm>
          <a:prstGeom prst="rect">
            <a:avLst/>
          </a:prstGeom>
          <a:blipFill>
            <a:blip r:embed="rId6"/>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62540" y="3667124"/>
            <a:ext cx="4143271"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Customers see only the menu and place orders</a:t>
            </a:r>
          </a:p>
        </p:txBody>
      </p:sp>
      <p:sp>
        <p:nvSpPr>
          <p:cNvPr id="29" name="Rectangle 28"/>
          <p:cNvSpPr/>
          <p:nvPr/>
        </p:nvSpPr>
        <p:spPr>
          <a:xfrm>
            <a:off x="6210144" y="4229100"/>
            <a:ext cx="5410064" cy="2476499"/>
          </a:xfrm>
          <a:prstGeom prst="rect">
            <a:avLst/>
          </a:prstGeom>
          <a:blipFill>
            <a:blip r:embed="rId7"/>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62540" y="6296024"/>
            <a:ext cx="3152696"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Staff implements the hidden details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BEB"/>
            </a:gs>
            <a:gs pos="100000">
              <a:srgbClr val="FFF7ED"/>
            </a:gs>
          </a:gsLst>
          <a:lin ang="8100000" scaled="0"/>
        </a:gradFill>
        <a:effectLst/>
      </p:bgPr>
    </p:bg>
    <p:spTree>
      <p:nvGrpSpPr>
        <p:cNvPr id="1" name=""/>
        <p:cNvGrpSpPr/>
        <p:nvPr/>
      </p:nvGrpSpPr>
      <p:grpSpPr>
        <a:xfrm>
          <a:off x="0" y="0"/>
          <a:ext cx="0" cy="0"/>
          <a:chOff x="0" y="0"/>
          <a:chExt cx="0" cy="0"/>
        </a:xfrm>
      </p:grpSpPr>
      <p:sp>
        <p:nvSpPr>
          <p:cNvPr id="2" name="TextBox 1"/>
          <p:cNvSpPr txBox="1"/>
          <p:nvPr/>
        </p:nvSpPr>
        <p:spPr>
          <a:xfrm>
            <a:off x="571485" y="304800"/>
            <a:ext cx="11048723" cy="685800"/>
          </a:xfrm>
          <a:prstGeom prst="rect">
            <a:avLst/>
          </a:prstGeom>
          <a:noFill/>
        </p:spPr>
        <p:txBody>
          <a:bodyPr wrap="none" lIns="73152" tIns="54864" rIns="73152" bIns="54864" anchor="ctr">
            <a:spAutoFit/>
          </a:bodyPr>
          <a:lstStyle/>
          <a:p>
            <a:pPr algn="l">
              <a:lnSpc>
                <a:spcPts val="4680"/>
              </a:lnSpc>
              <a:spcBef>
                <a:spcPts val="0"/>
              </a:spcBef>
              <a:spcAft>
                <a:spcPts val="520"/>
              </a:spcAft>
            </a:pPr>
            <a:r>
              <a:rPr sz="2870" b="1">
                <a:solidFill>
                  <a:srgbClr val="9F1239"/>
                </a:solidFill>
                <a:latin typeface="Poppins"/>
              </a:rPr>
              <a:t>Encapsulation</a:t>
            </a:r>
          </a:p>
        </p:txBody>
      </p:sp>
      <p:sp>
        <p:nvSpPr>
          <p:cNvPr id="3" name="TextBox 2"/>
          <p:cNvSpPr txBox="1"/>
          <p:nvPr/>
        </p:nvSpPr>
        <p:spPr>
          <a:xfrm>
            <a:off x="571485" y="1066799"/>
            <a:ext cx="11048723" cy="266699"/>
          </a:xfrm>
          <a:prstGeom prst="rect">
            <a:avLst/>
          </a:prstGeom>
          <a:noFill/>
        </p:spPr>
        <p:txBody>
          <a:bodyPr wrap="none" lIns="73152" tIns="54864" rIns="73152" bIns="54864" anchor="ctr">
            <a:spAutoFit/>
          </a:bodyPr>
          <a:lstStyle/>
          <a:p>
            <a:pPr algn="l">
              <a:lnSpc>
                <a:spcPts val="1820"/>
              </a:lnSpc>
              <a:spcBef>
                <a:spcPts val="0"/>
              </a:spcBef>
              <a:spcAft>
                <a:spcPts val="1560"/>
              </a:spcAft>
            </a:pPr>
            <a:r>
              <a:rPr sz="1196" b="0">
                <a:solidFill>
                  <a:srgbClr val="6B7280"/>
                </a:solidFill>
                <a:latin typeface="Poppins"/>
              </a:rPr>
              <a:t>Bundling Data and Methods</a:t>
            </a:r>
          </a:p>
        </p:txBody>
      </p:sp>
      <p:sp>
        <p:nvSpPr>
          <p:cNvPr id="4" name="Rounded Rectangle 3"/>
          <p:cNvSpPr/>
          <p:nvPr/>
        </p:nvSpPr>
        <p:spPr>
          <a:xfrm>
            <a:off x="571485" y="1562100"/>
            <a:ext cx="5410064" cy="1952624"/>
          </a:xfrm>
          <a:prstGeom prst="roundRect">
            <a:avLst>
              <a:gd name="adj" fmla="val 1170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rot="16200000">
            <a:off x="-272747" y="2406332"/>
            <a:ext cx="1952624"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alphaModFix/>
          </a:blip>
          <a:stretch>
            <a:fillRect/>
          </a:stretch>
        </p:blipFill>
        <p:spPr>
          <a:xfrm>
            <a:off x="800079" y="1764029"/>
            <a:ext cx="228594" cy="205739"/>
          </a:xfrm>
          <a:prstGeom prst="rect">
            <a:avLst/>
          </a:prstGeom>
        </p:spPr>
      </p:pic>
      <p:sp>
        <p:nvSpPr>
          <p:cNvPr id="7" name="TextBox 6"/>
          <p:cNvSpPr txBox="1"/>
          <p:nvPr/>
        </p:nvSpPr>
        <p:spPr>
          <a:xfrm>
            <a:off x="1142971" y="1714500"/>
            <a:ext cx="2524061"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What is Encapsulation?</a:t>
            </a:r>
          </a:p>
        </p:txBody>
      </p:sp>
      <p:sp>
        <p:nvSpPr>
          <p:cNvPr id="8" name="TextBox 7"/>
          <p:cNvSpPr txBox="1"/>
          <p:nvPr/>
        </p:nvSpPr>
        <p:spPr>
          <a:xfrm>
            <a:off x="800079" y="2105024"/>
            <a:ext cx="5029074" cy="457200"/>
          </a:xfrm>
          <a:prstGeom prst="rect">
            <a:avLst/>
          </a:prstGeom>
          <a:noFill/>
        </p:spPr>
        <p:txBody>
          <a:bodyPr wrap="square" lIns="73152" tIns="54864" rIns="73152" bIns="54864" anchor="ctr">
            <a:spAutoFit/>
          </a:bodyPr>
          <a:lstStyle/>
          <a:p>
            <a:pPr algn="l">
              <a:lnSpc>
                <a:spcPts val="1560"/>
              </a:lnSpc>
              <a:spcBef>
                <a:spcPts val="0"/>
              </a:spcBef>
              <a:spcAft>
                <a:spcPts val="520"/>
              </a:spcAft>
            </a:pPr>
            <a:r>
              <a:rPr sz="956" b="0">
                <a:solidFill>
                  <a:srgbClr val="374151"/>
                </a:solidFill>
                <a:latin typeface="Apple Color Emoji"/>
              </a:rPr>
              <a:t>Bundling data and methods that operate on that data within a single unit.</a:t>
            </a:r>
          </a:p>
        </p:txBody>
      </p:sp>
      <p:sp>
        <p:nvSpPr>
          <p:cNvPr id="9" name="TextBox 8"/>
          <p:cNvSpPr txBox="1"/>
          <p:nvPr/>
        </p:nvSpPr>
        <p:spPr>
          <a:xfrm>
            <a:off x="800079" y="2638425"/>
            <a:ext cx="5029074" cy="219074"/>
          </a:xfrm>
          <a:prstGeom prst="rect">
            <a:avLst/>
          </a:prstGeom>
          <a:noFill/>
        </p:spPr>
        <p:txBody>
          <a:bodyPr wrap="none" lIns="182880" tIns="54864" rIns="73152" bIns="54864" anchor="ctr">
            <a:spAutoFit/>
          </a:bodyPr>
          <a:lstStyle/>
          <a:p>
            <a:pPr algn="l">
              <a:lnSpc>
                <a:spcPts val="1430"/>
              </a:lnSpc>
              <a:spcBef>
                <a:spcPts val="0"/>
              </a:spcBef>
              <a:spcAft>
                <a:spcPts val="0"/>
              </a:spcAft>
            </a:pPr>
            <a:r>
              <a:rPr sz="1104"/>
              <a:t>  </a:t>
            </a:r>
            <a:r>
              <a:rPr sz="897" b="0">
                <a:solidFill>
                  <a:srgbClr val="374151"/>
                </a:solidFill>
                <a:latin typeface="Apple Color Emoji"/>
              </a:rPr>
              <a:t> Data Hiding</a:t>
            </a:r>
          </a:p>
        </p:txBody>
      </p:sp>
      <p:pic>
        <p:nvPicPr>
          <p:cNvPr id="10" name="Picture 9" descr="image.png"/>
          <p:cNvPicPr>
            <a:picLocks noChangeAspect="1"/>
          </p:cNvPicPr>
          <p:nvPr/>
        </p:nvPicPr>
        <p:blipFill>
          <a:blip r:embed="rId3">
            <a:alphaModFix/>
          </a:blip>
          <a:stretch>
            <a:fillRect/>
          </a:stretch>
        </p:blipFill>
        <p:spPr>
          <a:xfrm>
            <a:off x="800079" y="2675000"/>
            <a:ext cx="133346" cy="117348"/>
          </a:xfrm>
          <a:prstGeom prst="rect">
            <a:avLst/>
          </a:prstGeom>
        </p:spPr>
      </p:pic>
      <p:sp>
        <p:nvSpPr>
          <p:cNvPr id="11" name="TextBox 10"/>
          <p:cNvSpPr txBox="1"/>
          <p:nvPr/>
        </p:nvSpPr>
        <p:spPr>
          <a:xfrm>
            <a:off x="800079" y="2895600"/>
            <a:ext cx="5029074" cy="219074"/>
          </a:xfrm>
          <a:prstGeom prst="rect">
            <a:avLst/>
          </a:prstGeom>
          <a:noFill/>
        </p:spPr>
        <p:txBody>
          <a:bodyPr wrap="none" lIns="182880" tIns="54864" rIns="73152" bIns="54864" anchor="ctr">
            <a:spAutoFit/>
          </a:bodyPr>
          <a:lstStyle/>
          <a:p>
            <a:pPr algn="l">
              <a:lnSpc>
                <a:spcPts val="1430"/>
              </a:lnSpc>
              <a:spcBef>
                <a:spcPts val="260"/>
              </a:spcBef>
              <a:spcAft>
                <a:spcPts val="0"/>
              </a:spcAft>
            </a:pPr>
            <a:r>
              <a:rPr sz="1104"/>
              <a:t>  </a:t>
            </a:r>
            <a:r>
              <a:rPr sz="897" b="0">
                <a:solidFill>
                  <a:srgbClr val="374151"/>
                </a:solidFill>
                <a:latin typeface="Apple Color Emoji"/>
              </a:rPr>
              <a:t> Controlled Access</a:t>
            </a:r>
          </a:p>
        </p:txBody>
      </p:sp>
      <p:pic>
        <p:nvPicPr>
          <p:cNvPr id="12" name="Picture 11" descr="image.png"/>
          <p:cNvPicPr>
            <a:picLocks noChangeAspect="1"/>
          </p:cNvPicPr>
          <p:nvPr/>
        </p:nvPicPr>
        <p:blipFill>
          <a:blip r:embed="rId3">
            <a:alphaModFix/>
          </a:blip>
          <a:stretch>
            <a:fillRect/>
          </a:stretch>
        </p:blipFill>
        <p:spPr>
          <a:xfrm>
            <a:off x="800079" y="2932175"/>
            <a:ext cx="133346" cy="117348"/>
          </a:xfrm>
          <a:prstGeom prst="rect">
            <a:avLst/>
          </a:prstGeom>
        </p:spPr>
      </p:pic>
      <p:sp>
        <p:nvSpPr>
          <p:cNvPr id="13" name="TextBox 12"/>
          <p:cNvSpPr txBox="1"/>
          <p:nvPr/>
        </p:nvSpPr>
        <p:spPr>
          <a:xfrm>
            <a:off x="800079" y="3143250"/>
            <a:ext cx="5029074" cy="219074"/>
          </a:xfrm>
          <a:prstGeom prst="rect">
            <a:avLst/>
          </a:prstGeom>
          <a:noFill/>
        </p:spPr>
        <p:txBody>
          <a:bodyPr wrap="none" lIns="182880" tIns="54864" rIns="73152" bIns="54864" anchor="ctr">
            <a:spAutoFit/>
          </a:bodyPr>
          <a:lstStyle/>
          <a:p>
            <a:pPr algn="l">
              <a:lnSpc>
                <a:spcPts val="1430"/>
              </a:lnSpc>
              <a:spcBef>
                <a:spcPts val="260"/>
              </a:spcBef>
              <a:spcAft>
                <a:spcPts val="0"/>
              </a:spcAft>
            </a:pPr>
            <a:r>
              <a:rPr sz="1104"/>
              <a:t>  </a:t>
            </a:r>
            <a:r>
              <a:rPr sz="897" b="0">
                <a:solidFill>
                  <a:srgbClr val="374151"/>
                </a:solidFill>
                <a:latin typeface="Apple Color Emoji"/>
              </a:rPr>
              <a:t> Data Integrity</a:t>
            </a:r>
          </a:p>
        </p:txBody>
      </p:sp>
      <p:pic>
        <p:nvPicPr>
          <p:cNvPr id="14" name="Picture 13" descr="image.png"/>
          <p:cNvPicPr>
            <a:picLocks noChangeAspect="1"/>
          </p:cNvPicPr>
          <p:nvPr/>
        </p:nvPicPr>
        <p:blipFill>
          <a:blip r:embed="rId3">
            <a:alphaModFix/>
          </a:blip>
          <a:stretch>
            <a:fillRect/>
          </a:stretch>
        </p:blipFill>
        <p:spPr>
          <a:xfrm>
            <a:off x="800079" y="3179825"/>
            <a:ext cx="133346" cy="117348"/>
          </a:xfrm>
          <a:prstGeom prst="rect">
            <a:avLst/>
          </a:prstGeom>
        </p:spPr>
      </p:pic>
      <p:sp>
        <p:nvSpPr>
          <p:cNvPr id="15" name="Rounded Rectangle 14"/>
          <p:cNvSpPr/>
          <p:nvPr/>
        </p:nvSpPr>
        <p:spPr>
          <a:xfrm>
            <a:off x="571485" y="3657600"/>
            <a:ext cx="5410064" cy="1495424"/>
          </a:xfrm>
          <a:prstGeom prst="roundRect">
            <a:avLst>
              <a:gd name="adj" fmla="val 1528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 Same Side Corner Rectangle 15"/>
          <p:cNvSpPr/>
          <p:nvPr/>
        </p:nvSpPr>
        <p:spPr>
          <a:xfrm rot="16200000">
            <a:off x="-44147" y="4273232"/>
            <a:ext cx="1495424"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png"/>
          <p:cNvPicPr>
            <a:picLocks noChangeAspect="1"/>
          </p:cNvPicPr>
          <p:nvPr/>
        </p:nvPicPr>
        <p:blipFill>
          <a:blip r:embed="rId4">
            <a:alphaModFix/>
          </a:blip>
          <a:stretch>
            <a:fillRect/>
          </a:stretch>
        </p:blipFill>
        <p:spPr>
          <a:xfrm>
            <a:off x="800079" y="3880484"/>
            <a:ext cx="228594" cy="182879"/>
          </a:xfrm>
          <a:prstGeom prst="rect">
            <a:avLst/>
          </a:prstGeom>
        </p:spPr>
      </p:pic>
      <p:sp>
        <p:nvSpPr>
          <p:cNvPr id="18" name="TextBox 17"/>
          <p:cNvSpPr txBox="1"/>
          <p:nvPr/>
        </p:nvSpPr>
        <p:spPr>
          <a:xfrm>
            <a:off x="1142971" y="3809999"/>
            <a:ext cx="3495587"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Encapsulation in Our Restaurant</a:t>
            </a:r>
          </a:p>
        </p:txBody>
      </p:sp>
      <p:sp>
        <p:nvSpPr>
          <p:cNvPr id="19" name="TextBox 18"/>
          <p:cNvSpPr txBox="1"/>
          <p:nvPr/>
        </p:nvSpPr>
        <p:spPr>
          <a:xfrm>
            <a:off x="800079" y="4210049"/>
            <a:ext cx="5029074" cy="219074"/>
          </a:xfrm>
          <a:prstGeom prst="rect">
            <a:avLst/>
          </a:prstGeom>
          <a:noFill/>
        </p:spPr>
        <p:txBody>
          <a:bodyPr wrap="none" lIns="182880" tIns="54864" rIns="73152" bIns="54864" anchor="ctr">
            <a:spAutoFit/>
          </a:bodyPr>
          <a:lstStyle/>
          <a:p>
            <a:pPr algn="l">
              <a:lnSpc>
                <a:spcPts val="1430"/>
              </a:lnSpc>
              <a:spcBef>
                <a:spcPts val="0"/>
              </a:spcBef>
              <a:spcAft>
                <a:spcPts val="0"/>
              </a:spcAft>
            </a:pPr>
            <a:r>
              <a:rPr sz="1104"/>
              <a:t>  </a:t>
            </a:r>
            <a:r>
              <a:rPr sz="897" b="0">
                <a:solidFill>
                  <a:srgbClr val="374151"/>
                </a:solidFill>
                <a:latin typeface="Apple Color Emoji"/>
              </a:rPr>
              <a:t> MenuItem: name, price, category</a:t>
            </a:r>
          </a:p>
        </p:txBody>
      </p:sp>
      <p:pic>
        <p:nvPicPr>
          <p:cNvPr id="20" name="Picture 19" descr="image.png"/>
          <p:cNvPicPr>
            <a:picLocks noChangeAspect="1"/>
          </p:cNvPicPr>
          <p:nvPr/>
        </p:nvPicPr>
        <p:blipFill>
          <a:blip r:embed="rId5">
            <a:alphaModFix/>
          </a:blip>
          <a:stretch>
            <a:fillRect/>
          </a:stretch>
        </p:blipFill>
        <p:spPr>
          <a:xfrm>
            <a:off x="800079" y="4250626"/>
            <a:ext cx="133346" cy="109347"/>
          </a:xfrm>
          <a:prstGeom prst="rect">
            <a:avLst/>
          </a:prstGeom>
        </p:spPr>
      </p:pic>
      <p:sp>
        <p:nvSpPr>
          <p:cNvPr id="21" name="TextBox 20"/>
          <p:cNvSpPr txBox="1"/>
          <p:nvPr/>
        </p:nvSpPr>
        <p:spPr>
          <a:xfrm>
            <a:off x="800079" y="4495799"/>
            <a:ext cx="5029074" cy="219074"/>
          </a:xfrm>
          <a:prstGeom prst="rect">
            <a:avLst/>
          </a:prstGeom>
          <a:noFill/>
        </p:spPr>
        <p:txBody>
          <a:bodyPr wrap="none" lIns="182880" tIns="54864" rIns="73152" bIns="54864" anchor="ctr">
            <a:spAutoFit/>
          </a:bodyPr>
          <a:lstStyle/>
          <a:p>
            <a:pPr algn="l">
              <a:lnSpc>
                <a:spcPts val="1430"/>
              </a:lnSpc>
              <a:spcBef>
                <a:spcPts val="520"/>
              </a:spcBef>
              <a:spcAft>
                <a:spcPts val="0"/>
              </a:spcAft>
            </a:pPr>
            <a:r>
              <a:rPr sz="1104"/>
              <a:t>  </a:t>
            </a:r>
            <a:r>
              <a:rPr sz="897" b="0">
                <a:solidFill>
                  <a:srgbClr val="374151"/>
                </a:solidFill>
                <a:latin typeface="Apple Color Emoji"/>
              </a:rPr>
              <a:t> Customer: name, table, contact</a:t>
            </a:r>
          </a:p>
        </p:txBody>
      </p:sp>
      <p:pic>
        <p:nvPicPr>
          <p:cNvPr id="22" name="Picture 21" descr="image.png"/>
          <p:cNvPicPr>
            <a:picLocks noChangeAspect="1"/>
          </p:cNvPicPr>
          <p:nvPr/>
        </p:nvPicPr>
        <p:blipFill>
          <a:blip r:embed="rId6">
            <a:alphaModFix/>
          </a:blip>
          <a:stretch>
            <a:fillRect/>
          </a:stretch>
        </p:blipFill>
        <p:spPr>
          <a:xfrm>
            <a:off x="800079" y="4540376"/>
            <a:ext cx="133346" cy="101346"/>
          </a:xfrm>
          <a:prstGeom prst="rect">
            <a:avLst/>
          </a:prstGeom>
        </p:spPr>
      </p:pic>
      <p:sp>
        <p:nvSpPr>
          <p:cNvPr id="23" name="TextBox 22"/>
          <p:cNvSpPr txBox="1"/>
          <p:nvPr/>
        </p:nvSpPr>
        <p:spPr>
          <a:xfrm>
            <a:off x="800079" y="4781549"/>
            <a:ext cx="5029074" cy="219074"/>
          </a:xfrm>
          <a:prstGeom prst="rect">
            <a:avLst/>
          </a:prstGeom>
          <a:noFill/>
        </p:spPr>
        <p:txBody>
          <a:bodyPr wrap="none" lIns="182880" tIns="54864" rIns="73152" bIns="54864" anchor="ctr">
            <a:spAutoFit/>
          </a:bodyPr>
          <a:lstStyle/>
          <a:p>
            <a:pPr algn="l">
              <a:lnSpc>
                <a:spcPts val="1430"/>
              </a:lnSpc>
              <a:spcBef>
                <a:spcPts val="520"/>
              </a:spcBef>
              <a:spcAft>
                <a:spcPts val="0"/>
              </a:spcAft>
            </a:pPr>
            <a:r>
              <a:rPr sz="1104"/>
              <a:t>  </a:t>
            </a:r>
            <a:r>
              <a:rPr sz="897" b="0">
                <a:solidFill>
                  <a:srgbClr val="374151"/>
                </a:solidFill>
                <a:latin typeface="Apple Color Emoji"/>
              </a:rPr>
              <a:t> Order: ID, amount, status</a:t>
            </a:r>
          </a:p>
        </p:txBody>
      </p:sp>
      <p:pic>
        <p:nvPicPr>
          <p:cNvPr id="24" name="Picture 23" descr="image.png"/>
          <p:cNvPicPr>
            <a:picLocks noChangeAspect="1"/>
          </p:cNvPicPr>
          <p:nvPr/>
        </p:nvPicPr>
        <p:blipFill>
          <a:blip r:embed="rId7">
            <a:alphaModFix/>
          </a:blip>
          <a:stretch>
            <a:fillRect/>
          </a:stretch>
        </p:blipFill>
        <p:spPr>
          <a:xfrm>
            <a:off x="800079" y="4818125"/>
            <a:ext cx="133346" cy="117348"/>
          </a:xfrm>
          <a:prstGeom prst="rect">
            <a:avLst/>
          </a:prstGeom>
        </p:spPr>
      </p:pic>
      <p:sp>
        <p:nvSpPr>
          <p:cNvPr id="25" name="Rounded Rectangle 24"/>
          <p:cNvSpPr/>
          <p:nvPr/>
        </p:nvSpPr>
        <p:spPr>
          <a:xfrm>
            <a:off x="571485" y="5305425"/>
            <a:ext cx="5410064" cy="1409699"/>
          </a:xfrm>
          <a:prstGeom prst="roundRect">
            <a:avLst>
              <a:gd name="adj" fmla="val 16216"/>
            </a:avLst>
          </a:prstGeom>
          <a:solidFill>
            <a:srgbClr val="FFFFFF"/>
          </a:solidFill>
          <a:ln w="825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image.png"/>
          <p:cNvPicPr>
            <a:picLocks noChangeAspect="1"/>
          </p:cNvPicPr>
          <p:nvPr/>
        </p:nvPicPr>
        <p:blipFill>
          <a:blip r:embed="rId8">
            <a:alphaModFix/>
          </a:blip>
          <a:stretch>
            <a:fillRect/>
          </a:stretch>
        </p:blipFill>
        <p:spPr>
          <a:xfrm>
            <a:off x="733406" y="5532795"/>
            <a:ext cx="171445" cy="154858"/>
          </a:xfrm>
          <a:prstGeom prst="rect">
            <a:avLst/>
          </a:prstGeom>
        </p:spPr>
      </p:pic>
      <p:sp>
        <p:nvSpPr>
          <p:cNvPr id="27" name="TextBox 26"/>
          <p:cNvSpPr txBox="1"/>
          <p:nvPr/>
        </p:nvSpPr>
        <p:spPr>
          <a:xfrm>
            <a:off x="733406" y="5829300"/>
            <a:ext cx="5086222" cy="219074"/>
          </a:xfrm>
          <a:prstGeom prst="rect">
            <a:avLst/>
          </a:prstGeom>
          <a:noFill/>
        </p:spPr>
        <p:txBody>
          <a:bodyPr wrap="none" lIns="182880" tIns="54864" rIns="73152" bIns="54864" anchor="ctr">
            <a:spAutoFit/>
          </a:bodyPr>
          <a:lstStyle/>
          <a:p>
            <a:pPr algn="l">
              <a:lnSpc>
                <a:spcPts val="1430"/>
              </a:lnSpc>
              <a:spcBef>
                <a:spcPts val="0"/>
              </a:spcBef>
              <a:spcAft>
                <a:spcPts val="0"/>
              </a:spcAft>
            </a:pPr>
            <a:r>
              <a:rPr sz="1104"/>
              <a:t>  </a:t>
            </a:r>
            <a:r>
              <a:rPr sz="897" b="0">
                <a:solidFill>
                  <a:srgbClr val="374151"/>
                </a:solidFill>
                <a:latin typeface="Apple Color Emoji"/>
              </a:rPr>
              <a:t> Data Protection</a:t>
            </a:r>
          </a:p>
        </p:txBody>
      </p:sp>
      <p:pic>
        <p:nvPicPr>
          <p:cNvPr id="28" name="Picture 27" descr="image.png"/>
          <p:cNvPicPr>
            <a:picLocks noChangeAspect="1"/>
          </p:cNvPicPr>
          <p:nvPr/>
        </p:nvPicPr>
        <p:blipFill>
          <a:blip r:embed="rId9">
            <a:alphaModFix/>
          </a:blip>
          <a:stretch>
            <a:fillRect/>
          </a:stretch>
        </p:blipFill>
        <p:spPr>
          <a:xfrm>
            <a:off x="733406" y="5860541"/>
            <a:ext cx="133346" cy="128016"/>
          </a:xfrm>
          <a:prstGeom prst="rect">
            <a:avLst/>
          </a:prstGeom>
        </p:spPr>
      </p:pic>
      <p:sp>
        <p:nvSpPr>
          <p:cNvPr id="29" name="TextBox 28"/>
          <p:cNvSpPr txBox="1"/>
          <p:nvPr/>
        </p:nvSpPr>
        <p:spPr>
          <a:xfrm>
            <a:off x="733406" y="6076950"/>
            <a:ext cx="5086222" cy="219074"/>
          </a:xfrm>
          <a:prstGeom prst="rect">
            <a:avLst/>
          </a:prstGeom>
          <a:noFill/>
        </p:spPr>
        <p:txBody>
          <a:bodyPr wrap="none" lIns="182880" tIns="54864" rIns="73152" bIns="54864" anchor="ctr">
            <a:spAutoFit/>
          </a:bodyPr>
          <a:lstStyle/>
          <a:p>
            <a:pPr algn="l">
              <a:lnSpc>
                <a:spcPts val="1430"/>
              </a:lnSpc>
              <a:spcBef>
                <a:spcPts val="260"/>
              </a:spcBef>
              <a:spcAft>
                <a:spcPts val="0"/>
              </a:spcAft>
            </a:pPr>
            <a:r>
              <a:rPr sz="1104"/>
              <a:t>  </a:t>
            </a:r>
            <a:r>
              <a:rPr sz="897" b="0">
                <a:solidFill>
                  <a:srgbClr val="374151"/>
                </a:solidFill>
                <a:latin typeface="Apple Color Emoji"/>
              </a:rPr>
              <a:t> Maintainability</a:t>
            </a:r>
          </a:p>
        </p:txBody>
      </p:sp>
      <p:pic>
        <p:nvPicPr>
          <p:cNvPr id="30" name="Picture 29" descr="image.png"/>
          <p:cNvPicPr>
            <a:picLocks noChangeAspect="1"/>
          </p:cNvPicPr>
          <p:nvPr/>
        </p:nvPicPr>
        <p:blipFill>
          <a:blip r:embed="rId10">
            <a:alphaModFix/>
          </a:blip>
          <a:stretch>
            <a:fillRect/>
          </a:stretch>
        </p:blipFill>
        <p:spPr>
          <a:xfrm>
            <a:off x="733406" y="6108192"/>
            <a:ext cx="133346" cy="128016"/>
          </a:xfrm>
          <a:prstGeom prst="rect">
            <a:avLst/>
          </a:prstGeom>
        </p:spPr>
      </p:pic>
      <p:sp>
        <p:nvSpPr>
          <p:cNvPr id="31" name="TextBox 30"/>
          <p:cNvSpPr txBox="1"/>
          <p:nvPr/>
        </p:nvSpPr>
        <p:spPr>
          <a:xfrm>
            <a:off x="733406" y="6334125"/>
            <a:ext cx="5086222" cy="219074"/>
          </a:xfrm>
          <a:prstGeom prst="rect">
            <a:avLst/>
          </a:prstGeom>
          <a:noFill/>
        </p:spPr>
        <p:txBody>
          <a:bodyPr wrap="none" lIns="182880" tIns="54864" rIns="73152" bIns="54864" anchor="ctr">
            <a:spAutoFit/>
          </a:bodyPr>
          <a:lstStyle/>
          <a:p>
            <a:pPr algn="l">
              <a:lnSpc>
                <a:spcPts val="1430"/>
              </a:lnSpc>
              <a:spcBef>
                <a:spcPts val="260"/>
              </a:spcBef>
              <a:spcAft>
                <a:spcPts val="0"/>
              </a:spcAft>
            </a:pPr>
            <a:r>
              <a:rPr sz="1104"/>
              <a:t>  </a:t>
            </a:r>
            <a:r>
              <a:rPr sz="897" b="0">
                <a:solidFill>
                  <a:srgbClr val="374151"/>
                </a:solidFill>
                <a:latin typeface="Apple Color Emoji"/>
              </a:rPr>
              <a:t> Flexibility</a:t>
            </a:r>
          </a:p>
        </p:txBody>
      </p:sp>
      <p:pic>
        <p:nvPicPr>
          <p:cNvPr id="32" name="Picture 31" descr="image.png"/>
          <p:cNvPicPr>
            <a:picLocks noChangeAspect="1"/>
          </p:cNvPicPr>
          <p:nvPr/>
        </p:nvPicPr>
        <p:blipFill>
          <a:blip r:embed="rId11">
            <a:alphaModFix/>
          </a:blip>
          <a:stretch>
            <a:fillRect/>
          </a:stretch>
        </p:blipFill>
        <p:spPr>
          <a:xfrm>
            <a:off x="733406" y="6368033"/>
            <a:ext cx="133346" cy="122681"/>
          </a:xfrm>
          <a:prstGeom prst="rect">
            <a:avLst/>
          </a:prstGeom>
        </p:spPr>
      </p:pic>
      <p:sp>
        <p:nvSpPr>
          <p:cNvPr id="33" name="Rectangle 32"/>
          <p:cNvSpPr/>
          <p:nvPr/>
        </p:nvSpPr>
        <p:spPr>
          <a:xfrm>
            <a:off x="6210144" y="1562100"/>
            <a:ext cx="5410064" cy="2495550"/>
          </a:xfrm>
          <a:prstGeom prst="rect">
            <a:avLst/>
          </a:prstGeom>
          <a:blipFill>
            <a:blip r:embed="rId12"/>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62540" y="3648074"/>
            <a:ext cx="3219369"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MenuItem encapsulates food details</a:t>
            </a:r>
          </a:p>
        </p:txBody>
      </p:sp>
      <p:sp>
        <p:nvSpPr>
          <p:cNvPr id="36" name="Rectangle 35"/>
          <p:cNvSpPr/>
          <p:nvPr/>
        </p:nvSpPr>
        <p:spPr>
          <a:xfrm>
            <a:off x="6210144" y="4210049"/>
            <a:ext cx="5410064" cy="2495550"/>
          </a:xfrm>
          <a:prstGeom prst="rect">
            <a:avLst/>
          </a:prstGeom>
          <a:blipFill>
            <a:blip r:embed="rId13"/>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62540" y="6296024"/>
            <a:ext cx="3152696"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Each dish is an encapsulated object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BEB"/>
            </a:gs>
            <a:gs pos="100000">
              <a:srgbClr val="FFF7ED"/>
            </a:gs>
          </a:gsLst>
          <a:lin ang="8100000" scaled="0"/>
        </a:gradFill>
        <a:effectLst/>
      </p:bgPr>
    </p:bg>
    <p:spTree>
      <p:nvGrpSpPr>
        <p:cNvPr id="1" name=""/>
        <p:cNvGrpSpPr/>
        <p:nvPr/>
      </p:nvGrpSpPr>
      <p:grpSpPr>
        <a:xfrm>
          <a:off x="0" y="0"/>
          <a:ext cx="0" cy="0"/>
          <a:chOff x="0" y="0"/>
          <a:chExt cx="0" cy="0"/>
        </a:xfrm>
      </p:grpSpPr>
      <p:sp>
        <p:nvSpPr>
          <p:cNvPr id="2" name="TextBox 1"/>
          <p:cNvSpPr txBox="1"/>
          <p:nvPr/>
        </p:nvSpPr>
        <p:spPr>
          <a:xfrm>
            <a:off x="571485" y="304800"/>
            <a:ext cx="11048723" cy="685800"/>
          </a:xfrm>
          <a:prstGeom prst="rect">
            <a:avLst/>
          </a:prstGeom>
          <a:noFill/>
        </p:spPr>
        <p:txBody>
          <a:bodyPr wrap="none" lIns="73152" tIns="54864" rIns="73152" bIns="54864" anchor="ctr">
            <a:spAutoFit/>
          </a:bodyPr>
          <a:lstStyle/>
          <a:p>
            <a:pPr algn="l">
              <a:lnSpc>
                <a:spcPts val="4680"/>
              </a:lnSpc>
              <a:spcBef>
                <a:spcPts val="0"/>
              </a:spcBef>
              <a:spcAft>
                <a:spcPts val="520"/>
              </a:spcAft>
            </a:pPr>
            <a:r>
              <a:rPr sz="2870" b="1">
                <a:solidFill>
                  <a:srgbClr val="9F1239"/>
                </a:solidFill>
                <a:latin typeface="Poppins"/>
              </a:rPr>
              <a:t>Multilevel Inheritance</a:t>
            </a:r>
          </a:p>
        </p:txBody>
      </p:sp>
      <p:sp>
        <p:nvSpPr>
          <p:cNvPr id="3" name="TextBox 2"/>
          <p:cNvSpPr txBox="1"/>
          <p:nvPr/>
        </p:nvSpPr>
        <p:spPr>
          <a:xfrm>
            <a:off x="571485" y="1066799"/>
            <a:ext cx="11048723" cy="266699"/>
          </a:xfrm>
          <a:prstGeom prst="rect">
            <a:avLst/>
          </a:prstGeom>
          <a:noFill/>
        </p:spPr>
        <p:txBody>
          <a:bodyPr wrap="none" lIns="73152" tIns="54864" rIns="73152" bIns="54864" anchor="ctr">
            <a:spAutoFit/>
          </a:bodyPr>
          <a:lstStyle/>
          <a:p>
            <a:pPr algn="l">
              <a:lnSpc>
                <a:spcPts val="1820"/>
              </a:lnSpc>
              <a:spcBef>
                <a:spcPts val="0"/>
              </a:spcBef>
              <a:spcAft>
                <a:spcPts val="1560"/>
              </a:spcAft>
            </a:pPr>
            <a:r>
              <a:rPr sz="1196" b="0">
                <a:solidFill>
                  <a:srgbClr val="6B7280"/>
                </a:solidFill>
                <a:latin typeface="Poppins"/>
              </a:rPr>
              <a:t>Hierarchical Class Structure</a:t>
            </a:r>
          </a:p>
        </p:txBody>
      </p:sp>
      <p:sp>
        <p:nvSpPr>
          <p:cNvPr id="4" name="Rounded Rectangle 3"/>
          <p:cNvSpPr/>
          <p:nvPr/>
        </p:nvSpPr>
        <p:spPr>
          <a:xfrm>
            <a:off x="571485" y="1562100"/>
            <a:ext cx="5410064" cy="771525"/>
          </a:xfrm>
          <a:prstGeom prst="roundRect">
            <a:avLst>
              <a:gd name="adj" fmla="val 2962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rot="16200000">
            <a:off x="317803" y="1815782"/>
            <a:ext cx="771525"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alphaModFix/>
          </a:blip>
          <a:stretch>
            <a:fillRect/>
          </a:stretch>
        </p:blipFill>
        <p:spPr>
          <a:xfrm>
            <a:off x="761980" y="1749238"/>
            <a:ext cx="190495" cy="140073"/>
          </a:xfrm>
          <a:prstGeom prst="rect">
            <a:avLst/>
          </a:prstGeom>
        </p:spPr>
      </p:pic>
      <p:sp>
        <p:nvSpPr>
          <p:cNvPr id="7" name="TextBox 6"/>
          <p:cNvSpPr txBox="1"/>
          <p:nvPr/>
        </p:nvSpPr>
        <p:spPr>
          <a:xfrm>
            <a:off x="1028674" y="1676400"/>
            <a:ext cx="676258" cy="285750"/>
          </a:xfrm>
          <a:prstGeom prst="rect">
            <a:avLst/>
          </a:prstGeom>
          <a:noFill/>
        </p:spPr>
        <p:txBody>
          <a:bodyPr wrap="none" lIns="73152" tIns="54864" rIns="73152" bIns="54864" anchor="ctr">
            <a:spAutoFit/>
          </a:bodyPr>
          <a:lstStyle/>
          <a:p>
            <a:pPr algn="l">
              <a:lnSpc>
                <a:spcPts val="1950"/>
              </a:lnSpc>
              <a:spcBef>
                <a:spcPts val="0"/>
              </a:spcBef>
              <a:spcAft>
                <a:spcPts val="0"/>
              </a:spcAft>
            </a:pPr>
            <a:r>
              <a:rPr sz="1196" b="1">
                <a:solidFill>
                  <a:srgbClr val="1F2937"/>
                </a:solidFill>
                <a:latin typeface="Poppins"/>
              </a:rPr>
              <a:t>Person</a:t>
            </a:r>
          </a:p>
        </p:txBody>
      </p:sp>
      <p:sp>
        <p:nvSpPr>
          <p:cNvPr id="8" name="TextBox 7"/>
          <p:cNvSpPr txBox="1"/>
          <p:nvPr/>
        </p:nvSpPr>
        <p:spPr>
          <a:xfrm>
            <a:off x="761980" y="2000250"/>
            <a:ext cx="5105272" cy="219074"/>
          </a:xfrm>
          <a:prstGeom prst="rect">
            <a:avLst/>
          </a:prstGeom>
          <a:noFill/>
        </p:spPr>
        <p:txBody>
          <a:bodyPr wrap="none" lIns="73152" tIns="54864" rIns="73152" bIns="54864" anchor="ctr">
            <a:spAutoFit/>
          </a:bodyPr>
          <a:lstStyle/>
          <a:p>
            <a:pPr algn="l">
              <a:lnSpc>
                <a:spcPts val="1430"/>
              </a:lnSpc>
              <a:spcBef>
                <a:spcPts val="0"/>
              </a:spcBef>
              <a:spcAft>
                <a:spcPts val="0"/>
              </a:spcAft>
            </a:pPr>
            <a:r>
              <a:rPr sz="897" b="0">
                <a:solidFill>
                  <a:srgbClr val="374151"/>
                </a:solidFill>
                <a:latin typeface="Apple Color Emoji"/>
              </a:rPr>
              <a:t>Base class with name, age and pure virtual display()</a:t>
            </a:r>
          </a:p>
        </p:txBody>
      </p:sp>
      <p:pic>
        <p:nvPicPr>
          <p:cNvPr id="9" name="Picture 8" descr="image.png"/>
          <p:cNvPicPr>
            <a:picLocks noChangeAspect="1"/>
          </p:cNvPicPr>
          <p:nvPr/>
        </p:nvPicPr>
        <p:blipFill>
          <a:blip r:embed="rId3">
            <a:alphaModFix/>
          </a:blip>
          <a:stretch>
            <a:fillRect/>
          </a:stretch>
        </p:blipFill>
        <p:spPr>
          <a:xfrm>
            <a:off x="3133646" y="2507796"/>
            <a:ext cx="285742" cy="204107"/>
          </a:xfrm>
          <a:prstGeom prst="rect">
            <a:avLst/>
          </a:prstGeom>
        </p:spPr>
      </p:pic>
      <p:sp>
        <p:nvSpPr>
          <p:cNvPr id="10" name="Rounded Rectangle 9"/>
          <p:cNvSpPr/>
          <p:nvPr/>
        </p:nvSpPr>
        <p:spPr>
          <a:xfrm>
            <a:off x="571485" y="2895600"/>
            <a:ext cx="5410064" cy="771525"/>
          </a:xfrm>
          <a:prstGeom prst="roundRect">
            <a:avLst>
              <a:gd name="adj" fmla="val 2962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 Same Side Corner Rectangle 10"/>
          <p:cNvSpPr/>
          <p:nvPr/>
        </p:nvSpPr>
        <p:spPr>
          <a:xfrm rot="16200000">
            <a:off x="317803" y="3149282"/>
            <a:ext cx="771525"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4">
            <a:alphaModFix/>
          </a:blip>
          <a:stretch>
            <a:fillRect/>
          </a:stretch>
        </p:blipFill>
        <p:spPr>
          <a:xfrm>
            <a:off x="761980" y="3083858"/>
            <a:ext cx="190495" cy="156882"/>
          </a:xfrm>
          <a:prstGeom prst="rect">
            <a:avLst/>
          </a:prstGeom>
        </p:spPr>
      </p:pic>
      <p:sp>
        <p:nvSpPr>
          <p:cNvPr id="13" name="TextBox 12"/>
          <p:cNvSpPr txBox="1"/>
          <p:nvPr/>
        </p:nvSpPr>
        <p:spPr>
          <a:xfrm>
            <a:off x="1028674" y="3009900"/>
            <a:ext cx="971525" cy="285750"/>
          </a:xfrm>
          <a:prstGeom prst="rect">
            <a:avLst/>
          </a:prstGeom>
          <a:noFill/>
        </p:spPr>
        <p:txBody>
          <a:bodyPr wrap="none" lIns="73152" tIns="54864" rIns="73152" bIns="54864" anchor="ctr">
            <a:spAutoFit/>
          </a:bodyPr>
          <a:lstStyle/>
          <a:p>
            <a:pPr algn="l">
              <a:lnSpc>
                <a:spcPts val="1950"/>
              </a:lnSpc>
              <a:spcBef>
                <a:spcPts val="0"/>
              </a:spcBef>
              <a:spcAft>
                <a:spcPts val="0"/>
              </a:spcAft>
            </a:pPr>
            <a:r>
              <a:rPr sz="1196" b="1">
                <a:solidFill>
                  <a:srgbClr val="1F2937"/>
                </a:solidFill>
                <a:latin typeface="Poppins"/>
              </a:rPr>
              <a:t>Employee</a:t>
            </a:r>
          </a:p>
        </p:txBody>
      </p:sp>
      <p:sp>
        <p:nvSpPr>
          <p:cNvPr id="14" name="TextBox 13"/>
          <p:cNvSpPr txBox="1"/>
          <p:nvPr/>
        </p:nvSpPr>
        <p:spPr>
          <a:xfrm>
            <a:off x="761980" y="3333749"/>
            <a:ext cx="5105272" cy="219074"/>
          </a:xfrm>
          <a:prstGeom prst="rect">
            <a:avLst/>
          </a:prstGeom>
          <a:noFill/>
        </p:spPr>
        <p:txBody>
          <a:bodyPr wrap="none" lIns="73152" tIns="54864" rIns="73152" bIns="54864" anchor="ctr">
            <a:spAutoFit/>
          </a:bodyPr>
          <a:lstStyle/>
          <a:p>
            <a:pPr algn="l">
              <a:lnSpc>
                <a:spcPts val="1430"/>
              </a:lnSpc>
              <a:spcBef>
                <a:spcPts val="0"/>
              </a:spcBef>
              <a:spcAft>
                <a:spcPts val="0"/>
              </a:spcAft>
            </a:pPr>
            <a:r>
              <a:rPr sz="897" b="0">
                <a:solidFill>
                  <a:srgbClr val="374151"/>
                </a:solidFill>
                <a:latin typeface="Apple Color Emoji"/>
              </a:rPr>
              <a:t>Inherits from Person, adds employeeID, salary</a:t>
            </a:r>
          </a:p>
        </p:txBody>
      </p:sp>
      <p:pic>
        <p:nvPicPr>
          <p:cNvPr id="15" name="Picture 14" descr="image.png"/>
          <p:cNvPicPr>
            <a:picLocks noChangeAspect="1"/>
          </p:cNvPicPr>
          <p:nvPr/>
        </p:nvPicPr>
        <p:blipFill>
          <a:blip r:embed="rId3">
            <a:alphaModFix/>
          </a:blip>
          <a:stretch>
            <a:fillRect/>
          </a:stretch>
        </p:blipFill>
        <p:spPr>
          <a:xfrm>
            <a:off x="3133646" y="3850821"/>
            <a:ext cx="285742" cy="204107"/>
          </a:xfrm>
          <a:prstGeom prst="rect">
            <a:avLst/>
          </a:prstGeom>
        </p:spPr>
      </p:pic>
      <p:sp>
        <p:nvSpPr>
          <p:cNvPr id="16" name="Rounded Rectangle 15"/>
          <p:cNvSpPr/>
          <p:nvPr/>
        </p:nvSpPr>
        <p:spPr>
          <a:xfrm>
            <a:off x="571485" y="4238624"/>
            <a:ext cx="5410064" cy="771525"/>
          </a:xfrm>
          <a:prstGeom prst="roundRect">
            <a:avLst>
              <a:gd name="adj" fmla="val 2962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 Same Side Corner Rectangle 16"/>
          <p:cNvSpPr/>
          <p:nvPr/>
        </p:nvSpPr>
        <p:spPr>
          <a:xfrm rot="16200000">
            <a:off x="317803" y="4492306"/>
            <a:ext cx="771525"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5">
            <a:alphaModFix/>
          </a:blip>
          <a:stretch>
            <a:fillRect/>
          </a:stretch>
        </p:blipFill>
        <p:spPr>
          <a:xfrm>
            <a:off x="761980" y="4422961"/>
            <a:ext cx="190495" cy="145676"/>
          </a:xfrm>
          <a:prstGeom prst="rect">
            <a:avLst/>
          </a:prstGeom>
        </p:spPr>
      </p:pic>
      <p:sp>
        <p:nvSpPr>
          <p:cNvPr id="19" name="TextBox 18"/>
          <p:cNvSpPr txBox="1"/>
          <p:nvPr/>
        </p:nvSpPr>
        <p:spPr>
          <a:xfrm>
            <a:off x="1028674" y="4352924"/>
            <a:ext cx="2524061" cy="285750"/>
          </a:xfrm>
          <a:prstGeom prst="rect">
            <a:avLst/>
          </a:prstGeom>
          <a:noFill/>
        </p:spPr>
        <p:txBody>
          <a:bodyPr wrap="none" lIns="73152" tIns="54864" rIns="73152" bIns="54864" anchor="ctr">
            <a:spAutoFit/>
          </a:bodyPr>
          <a:lstStyle/>
          <a:p>
            <a:pPr algn="l">
              <a:lnSpc>
                <a:spcPts val="1950"/>
              </a:lnSpc>
              <a:spcBef>
                <a:spcPts val="0"/>
              </a:spcBef>
              <a:spcAft>
                <a:spcPts val="0"/>
              </a:spcAft>
            </a:pPr>
            <a:r>
              <a:rPr sz="1196" b="1">
                <a:solidFill>
                  <a:srgbClr val="1F2937"/>
                </a:solidFill>
                <a:latin typeface="Poppins"/>
              </a:rPr>
              <a:t>Manager &amp; HeadManager</a:t>
            </a:r>
          </a:p>
        </p:txBody>
      </p:sp>
      <p:sp>
        <p:nvSpPr>
          <p:cNvPr id="20" name="TextBox 19"/>
          <p:cNvSpPr txBox="1"/>
          <p:nvPr/>
        </p:nvSpPr>
        <p:spPr>
          <a:xfrm>
            <a:off x="761980" y="4676775"/>
            <a:ext cx="5105272" cy="219074"/>
          </a:xfrm>
          <a:prstGeom prst="rect">
            <a:avLst/>
          </a:prstGeom>
          <a:noFill/>
        </p:spPr>
        <p:txBody>
          <a:bodyPr wrap="none" lIns="73152" tIns="54864" rIns="73152" bIns="54864" anchor="ctr">
            <a:spAutoFit/>
          </a:bodyPr>
          <a:lstStyle/>
          <a:p>
            <a:pPr algn="l">
              <a:lnSpc>
                <a:spcPts val="1430"/>
              </a:lnSpc>
              <a:spcBef>
                <a:spcPts val="0"/>
              </a:spcBef>
              <a:spcAft>
                <a:spcPts val="0"/>
              </a:spcAft>
            </a:pPr>
            <a:r>
              <a:rPr sz="897" b="0">
                <a:solidFill>
                  <a:srgbClr val="374151"/>
                </a:solidFill>
                <a:latin typeface="Apple Color Emoji"/>
              </a:rPr>
              <a:t>Concrete classes implementing display()</a:t>
            </a:r>
          </a:p>
        </p:txBody>
      </p:sp>
      <p:sp>
        <p:nvSpPr>
          <p:cNvPr id="21" name="Rounded Rectangle 20"/>
          <p:cNvSpPr/>
          <p:nvPr/>
        </p:nvSpPr>
        <p:spPr>
          <a:xfrm>
            <a:off x="571485" y="5200650"/>
            <a:ext cx="5410064" cy="1228725"/>
          </a:xfrm>
          <a:prstGeom prst="roundRect">
            <a:avLst>
              <a:gd name="adj" fmla="val 18604"/>
            </a:avLst>
          </a:prstGeom>
          <a:solidFill>
            <a:srgbClr val="FFFFFF"/>
          </a:solidFill>
          <a:ln w="825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6">
            <a:alphaModFix/>
          </a:blip>
          <a:stretch>
            <a:fillRect/>
          </a:stretch>
        </p:blipFill>
        <p:spPr>
          <a:xfrm>
            <a:off x="695307" y="5376401"/>
            <a:ext cx="171445" cy="143796"/>
          </a:xfrm>
          <a:prstGeom prst="rect">
            <a:avLst/>
          </a:prstGeom>
        </p:spPr>
      </p:pic>
      <p:sp>
        <p:nvSpPr>
          <p:cNvPr id="23" name="TextBox 22"/>
          <p:cNvSpPr txBox="1"/>
          <p:nvPr/>
        </p:nvSpPr>
        <p:spPr>
          <a:xfrm>
            <a:off x="695307" y="5619750"/>
            <a:ext cx="5162420" cy="200025"/>
          </a:xfrm>
          <a:prstGeom prst="rect">
            <a:avLst/>
          </a:prstGeom>
          <a:noFill/>
        </p:spPr>
        <p:txBody>
          <a:bodyPr wrap="none" lIns="182880" tIns="54864" rIns="73152" bIns="54864" anchor="ctr">
            <a:spAutoFit/>
          </a:bodyPr>
          <a:lstStyle/>
          <a:p>
            <a:pPr algn="l">
              <a:lnSpc>
                <a:spcPts val="1365"/>
              </a:lnSpc>
              <a:spcBef>
                <a:spcPts val="0"/>
              </a:spcBef>
              <a:spcAft>
                <a:spcPts val="0"/>
              </a:spcAft>
            </a:pPr>
            <a:r>
              <a:rPr sz="1104"/>
              <a:t>  </a:t>
            </a:r>
            <a:r>
              <a:rPr sz="837" b="0">
                <a:solidFill>
                  <a:srgbClr val="374151"/>
                </a:solidFill>
                <a:latin typeface="Apple Color Emoji"/>
              </a:rPr>
              <a:t> Code Reusability</a:t>
            </a:r>
          </a:p>
        </p:txBody>
      </p:sp>
      <p:pic>
        <p:nvPicPr>
          <p:cNvPr id="24" name="Picture 23" descr="image.png"/>
          <p:cNvPicPr>
            <a:picLocks noChangeAspect="1"/>
          </p:cNvPicPr>
          <p:nvPr/>
        </p:nvPicPr>
        <p:blipFill>
          <a:blip r:embed="rId7">
            <a:alphaModFix/>
          </a:blip>
          <a:stretch>
            <a:fillRect/>
          </a:stretch>
        </p:blipFill>
        <p:spPr>
          <a:xfrm>
            <a:off x="695307" y="5646593"/>
            <a:ext cx="114297" cy="98713"/>
          </a:xfrm>
          <a:prstGeom prst="rect">
            <a:avLst/>
          </a:prstGeom>
        </p:spPr>
      </p:pic>
      <p:sp>
        <p:nvSpPr>
          <p:cNvPr id="25" name="TextBox 24"/>
          <p:cNvSpPr txBox="1"/>
          <p:nvPr/>
        </p:nvSpPr>
        <p:spPr>
          <a:xfrm>
            <a:off x="695307" y="5867399"/>
            <a:ext cx="5162420" cy="200025"/>
          </a:xfrm>
          <a:prstGeom prst="rect">
            <a:avLst/>
          </a:prstGeom>
          <a:noFill/>
        </p:spPr>
        <p:txBody>
          <a:bodyPr wrap="none" lIns="182880" tIns="54864" rIns="73152" bIns="54864" anchor="ctr">
            <a:spAutoFit/>
          </a:bodyPr>
          <a:lstStyle/>
          <a:p>
            <a:pPr algn="l">
              <a:lnSpc>
                <a:spcPts val="1365"/>
              </a:lnSpc>
              <a:spcBef>
                <a:spcPts val="260"/>
              </a:spcBef>
              <a:spcAft>
                <a:spcPts val="0"/>
              </a:spcAft>
            </a:pPr>
            <a:r>
              <a:rPr sz="1104"/>
              <a:t>  </a:t>
            </a:r>
            <a:r>
              <a:rPr sz="837" b="0">
                <a:solidFill>
                  <a:srgbClr val="374151"/>
                </a:solidFill>
                <a:latin typeface="Apple Color Emoji"/>
              </a:rPr>
              <a:t> Logical Structure</a:t>
            </a:r>
          </a:p>
        </p:txBody>
      </p:sp>
      <p:pic>
        <p:nvPicPr>
          <p:cNvPr id="26" name="Picture 25" descr="image.png"/>
          <p:cNvPicPr>
            <a:picLocks noChangeAspect="1"/>
          </p:cNvPicPr>
          <p:nvPr/>
        </p:nvPicPr>
        <p:blipFill>
          <a:blip r:embed="rId8">
            <a:alphaModFix/>
          </a:blip>
          <a:stretch>
            <a:fillRect/>
          </a:stretch>
        </p:blipFill>
        <p:spPr>
          <a:xfrm>
            <a:off x="695307" y="5894243"/>
            <a:ext cx="114297" cy="98713"/>
          </a:xfrm>
          <a:prstGeom prst="rect">
            <a:avLst/>
          </a:prstGeom>
        </p:spPr>
      </p:pic>
      <p:sp>
        <p:nvSpPr>
          <p:cNvPr id="27" name="TextBox 26"/>
          <p:cNvSpPr txBox="1"/>
          <p:nvPr/>
        </p:nvSpPr>
        <p:spPr>
          <a:xfrm>
            <a:off x="695307" y="6095999"/>
            <a:ext cx="5162420" cy="200025"/>
          </a:xfrm>
          <a:prstGeom prst="rect">
            <a:avLst/>
          </a:prstGeom>
          <a:noFill/>
        </p:spPr>
        <p:txBody>
          <a:bodyPr wrap="none" lIns="182880" tIns="54864" rIns="73152" bIns="54864" anchor="ctr">
            <a:spAutoFit/>
          </a:bodyPr>
          <a:lstStyle/>
          <a:p>
            <a:pPr algn="l">
              <a:lnSpc>
                <a:spcPts val="1365"/>
              </a:lnSpc>
              <a:spcBef>
                <a:spcPts val="260"/>
              </a:spcBef>
              <a:spcAft>
                <a:spcPts val="0"/>
              </a:spcAft>
            </a:pPr>
            <a:r>
              <a:rPr sz="1104"/>
              <a:t>  </a:t>
            </a:r>
            <a:r>
              <a:rPr sz="837" b="0">
                <a:solidFill>
                  <a:srgbClr val="374151"/>
                </a:solidFill>
                <a:latin typeface="Apple Color Emoji"/>
              </a:rPr>
              <a:t> Easy Extension</a:t>
            </a:r>
          </a:p>
        </p:txBody>
      </p:sp>
      <p:pic>
        <p:nvPicPr>
          <p:cNvPr id="28" name="Picture 27" descr="image.png"/>
          <p:cNvPicPr>
            <a:picLocks noChangeAspect="1"/>
          </p:cNvPicPr>
          <p:nvPr/>
        </p:nvPicPr>
        <p:blipFill>
          <a:blip r:embed="rId9">
            <a:alphaModFix/>
          </a:blip>
          <a:stretch>
            <a:fillRect/>
          </a:stretch>
        </p:blipFill>
        <p:spPr>
          <a:xfrm>
            <a:off x="695307" y="6122843"/>
            <a:ext cx="114297" cy="98713"/>
          </a:xfrm>
          <a:prstGeom prst="rect">
            <a:avLst/>
          </a:prstGeom>
        </p:spPr>
      </p:pic>
      <p:sp>
        <p:nvSpPr>
          <p:cNvPr id="29" name="Rectangle 28"/>
          <p:cNvSpPr/>
          <p:nvPr/>
        </p:nvSpPr>
        <p:spPr>
          <a:xfrm>
            <a:off x="6210144" y="1562100"/>
            <a:ext cx="5410064" cy="2514600"/>
          </a:xfrm>
          <a:prstGeom prst="rect">
            <a:avLst/>
          </a:prstGeom>
          <a:blipFill>
            <a:blip r:embed="rId10"/>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62540" y="3667124"/>
            <a:ext cx="3152696"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Restaurant management hierarchy</a:t>
            </a:r>
          </a:p>
        </p:txBody>
      </p:sp>
      <p:sp>
        <p:nvSpPr>
          <p:cNvPr id="32" name="Rectangle 31"/>
          <p:cNvSpPr/>
          <p:nvPr/>
        </p:nvSpPr>
        <p:spPr>
          <a:xfrm>
            <a:off x="6210144" y="4229100"/>
            <a:ext cx="5410064" cy="2476499"/>
          </a:xfrm>
          <a:prstGeom prst="rect">
            <a:avLst/>
          </a:prstGeom>
          <a:blipFill>
            <a:blip r:embed="rId11"/>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62540" y="6296024"/>
            <a:ext cx="3819429"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Staff levels: Person → Employee → Manager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BEB"/>
            </a:gs>
            <a:gs pos="100000">
              <a:srgbClr val="FFF7ED"/>
            </a:gs>
          </a:gsLst>
          <a:lin ang="8100000" scaled="0"/>
        </a:gradFill>
        <a:effectLst/>
      </p:bgPr>
    </p:bg>
    <p:spTree>
      <p:nvGrpSpPr>
        <p:cNvPr id="1" name=""/>
        <p:cNvGrpSpPr/>
        <p:nvPr/>
      </p:nvGrpSpPr>
      <p:grpSpPr>
        <a:xfrm>
          <a:off x="0" y="0"/>
          <a:ext cx="0" cy="0"/>
          <a:chOff x="0" y="0"/>
          <a:chExt cx="0" cy="0"/>
        </a:xfrm>
      </p:grpSpPr>
      <p:sp>
        <p:nvSpPr>
          <p:cNvPr id="2" name="TextBox 1"/>
          <p:cNvSpPr txBox="1"/>
          <p:nvPr/>
        </p:nvSpPr>
        <p:spPr>
          <a:xfrm>
            <a:off x="571485" y="304800"/>
            <a:ext cx="11048723" cy="685800"/>
          </a:xfrm>
          <a:prstGeom prst="rect">
            <a:avLst/>
          </a:prstGeom>
          <a:noFill/>
        </p:spPr>
        <p:txBody>
          <a:bodyPr wrap="none" lIns="73152" tIns="54864" rIns="73152" bIns="54864" anchor="ctr">
            <a:spAutoFit/>
          </a:bodyPr>
          <a:lstStyle/>
          <a:p>
            <a:pPr algn="l">
              <a:lnSpc>
                <a:spcPts val="4680"/>
              </a:lnSpc>
              <a:spcBef>
                <a:spcPts val="0"/>
              </a:spcBef>
              <a:spcAft>
                <a:spcPts val="520"/>
              </a:spcAft>
            </a:pPr>
            <a:r>
              <a:rPr sz="2870" b="1">
                <a:solidFill>
                  <a:srgbClr val="9F1239"/>
                </a:solidFill>
                <a:latin typeface="Poppins"/>
              </a:rPr>
              <a:t>Polymorphism</a:t>
            </a:r>
          </a:p>
        </p:txBody>
      </p:sp>
      <p:sp>
        <p:nvSpPr>
          <p:cNvPr id="3" name="TextBox 2"/>
          <p:cNvSpPr txBox="1"/>
          <p:nvPr/>
        </p:nvSpPr>
        <p:spPr>
          <a:xfrm>
            <a:off x="571485" y="1066799"/>
            <a:ext cx="11048723" cy="266699"/>
          </a:xfrm>
          <a:prstGeom prst="rect">
            <a:avLst/>
          </a:prstGeom>
          <a:noFill/>
        </p:spPr>
        <p:txBody>
          <a:bodyPr wrap="none" lIns="73152" tIns="54864" rIns="73152" bIns="54864" anchor="ctr">
            <a:spAutoFit/>
          </a:bodyPr>
          <a:lstStyle/>
          <a:p>
            <a:pPr algn="l">
              <a:lnSpc>
                <a:spcPts val="1820"/>
              </a:lnSpc>
              <a:spcBef>
                <a:spcPts val="0"/>
              </a:spcBef>
              <a:spcAft>
                <a:spcPts val="1560"/>
              </a:spcAft>
            </a:pPr>
            <a:r>
              <a:rPr sz="1196" b="0">
                <a:solidFill>
                  <a:srgbClr val="6B7280"/>
                </a:solidFill>
                <a:latin typeface="Poppins"/>
              </a:rPr>
              <a:t>One Interface, Multiple Implementations</a:t>
            </a:r>
          </a:p>
        </p:txBody>
      </p:sp>
      <p:sp>
        <p:nvSpPr>
          <p:cNvPr id="4" name="Rounded Rectangle 3"/>
          <p:cNvSpPr/>
          <p:nvPr/>
        </p:nvSpPr>
        <p:spPr>
          <a:xfrm>
            <a:off x="571485" y="1562100"/>
            <a:ext cx="5410064" cy="1371600"/>
          </a:xfrm>
          <a:prstGeom prst="roundRect">
            <a:avLst>
              <a:gd name="adj" fmla="val 1666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rot="16200000">
            <a:off x="17765" y="2115820"/>
            <a:ext cx="1371600"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alphaModFix/>
          </a:blip>
          <a:stretch>
            <a:fillRect/>
          </a:stretch>
        </p:blipFill>
        <p:spPr>
          <a:xfrm>
            <a:off x="800079" y="1795462"/>
            <a:ext cx="228594" cy="142875"/>
          </a:xfrm>
          <a:prstGeom prst="rect">
            <a:avLst/>
          </a:prstGeom>
        </p:spPr>
      </p:pic>
      <p:sp>
        <p:nvSpPr>
          <p:cNvPr id="7" name="TextBox 6"/>
          <p:cNvSpPr txBox="1"/>
          <p:nvPr/>
        </p:nvSpPr>
        <p:spPr>
          <a:xfrm>
            <a:off x="1142971" y="1714500"/>
            <a:ext cx="2552636"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What is Polymorphism?</a:t>
            </a:r>
          </a:p>
        </p:txBody>
      </p:sp>
      <p:sp>
        <p:nvSpPr>
          <p:cNvPr id="8" name="TextBox 7"/>
          <p:cNvSpPr txBox="1"/>
          <p:nvPr/>
        </p:nvSpPr>
        <p:spPr>
          <a:xfrm>
            <a:off x="800079" y="2105024"/>
            <a:ext cx="5029074" cy="228600"/>
          </a:xfrm>
          <a:prstGeom prst="rect">
            <a:avLst/>
          </a:prstGeom>
          <a:noFill/>
        </p:spPr>
        <p:txBody>
          <a:bodyPr wrap="none" lIns="73152" tIns="54864" rIns="73152" bIns="54864" anchor="ctr">
            <a:spAutoFit/>
          </a:bodyPr>
          <a:lstStyle/>
          <a:p>
            <a:pPr algn="l">
              <a:lnSpc>
                <a:spcPts val="1560"/>
              </a:lnSpc>
              <a:spcBef>
                <a:spcPts val="0"/>
              </a:spcBef>
              <a:spcAft>
                <a:spcPts val="520"/>
              </a:spcAft>
            </a:pPr>
            <a:r>
              <a:rPr sz="956" b="0">
                <a:solidFill>
                  <a:srgbClr val="374151"/>
                </a:solidFill>
                <a:latin typeface="Apple Color Emoji"/>
              </a:rPr>
              <a:t>Same function call, different behaviors based on object type.</a:t>
            </a:r>
          </a:p>
        </p:txBody>
      </p:sp>
      <p:sp>
        <p:nvSpPr>
          <p:cNvPr id="9" name="Rounded Rectangle 8"/>
          <p:cNvSpPr/>
          <p:nvPr/>
        </p:nvSpPr>
        <p:spPr>
          <a:xfrm>
            <a:off x="800079" y="2409825"/>
            <a:ext cx="5029074" cy="371475"/>
          </a:xfrm>
          <a:prstGeom prst="roundRect">
            <a:avLst>
              <a:gd name="adj" fmla="val 41025"/>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76278" y="2486025"/>
            <a:ext cx="4876678" cy="219074"/>
          </a:xfrm>
          <a:prstGeom prst="rect">
            <a:avLst/>
          </a:prstGeom>
          <a:noFill/>
        </p:spPr>
        <p:txBody>
          <a:bodyPr wrap="none" lIns="73152" tIns="54864" rIns="73152" bIns="54864" anchor="ctr">
            <a:spAutoFit/>
          </a:bodyPr>
          <a:lstStyle/>
          <a:p>
            <a:pPr algn="l">
              <a:lnSpc>
                <a:spcPts val="1430"/>
              </a:lnSpc>
              <a:spcBef>
                <a:spcPts val="0"/>
              </a:spcBef>
              <a:spcAft>
                <a:spcPts val="0"/>
              </a:spcAft>
            </a:pPr>
            <a:r>
              <a:rPr sz="897" b="1">
                <a:solidFill>
                  <a:srgbClr val="9F1239"/>
                </a:solidFill>
                <a:latin typeface="Apple Color Emoji"/>
              </a:rPr>
              <a:t>Key:</a:t>
            </a:r>
            <a:r>
              <a:rPr sz="897" b="0">
                <a:solidFill>
                  <a:srgbClr val="374151"/>
                </a:solidFill>
                <a:latin typeface="Apple Color Emoji"/>
              </a:rPr>
              <a:t> One interface, multiple implementations</a:t>
            </a:r>
          </a:p>
        </p:txBody>
      </p:sp>
      <p:sp>
        <p:nvSpPr>
          <p:cNvPr id="11" name="Rounded Rectangle 10"/>
          <p:cNvSpPr/>
          <p:nvPr/>
        </p:nvSpPr>
        <p:spPr>
          <a:xfrm>
            <a:off x="571485" y="3086100"/>
            <a:ext cx="5410064" cy="1581149"/>
          </a:xfrm>
          <a:prstGeom prst="roundRect">
            <a:avLst>
              <a:gd name="adj" fmla="val 1445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 Same Side Corner Rectangle 11"/>
          <p:cNvSpPr/>
          <p:nvPr/>
        </p:nvSpPr>
        <p:spPr>
          <a:xfrm rot="16200000">
            <a:off x="-87009" y="3744594"/>
            <a:ext cx="1581149"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3">
            <a:alphaModFix/>
          </a:blip>
          <a:stretch>
            <a:fillRect/>
          </a:stretch>
        </p:blipFill>
        <p:spPr>
          <a:xfrm>
            <a:off x="800079" y="3293745"/>
            <a:ext cx="228594" cy="194309"/>
          </a:xfrm>
          <a:prstGeom prst="rect">
            <a:avLst/>
          </a:prstGeom>
        </p:spPr>
      </p:pic>
      <p:sp>
        <p:nvSpPr>
          <p:cNvPr id="14" name="TextBox 13"/>
          <p:cNvSpPr txBox="1"/>
          <p:nvPr/>
        </p:nvSpPr>
        <p:spPr>
          <a:xfrm>
            <a:off x="1142971" y="3238500"/>
            <a:ext cx="3533686"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Polymorphism in Our Restaurant</a:t>
            </a:r>
          </a:p>
        </p:txBody>
      </p:sp>
      <p:sp>
        <p:nvSpPr>
          <p:cNvPr id="15" name="TextBox 14"/>
          <p:cNvSpPr txBox="1"/>
          <p:nvPr/>
        </p:nvSpPr>
        <p:spPr>
          <a:xfrm>
            <a:off x="800079" y="3619499"/>
            <a:ext cx="5029074" cy="228600"/>
          </a:xfrm>
          <a:prstGeom prst="rect">
            <a:avLst/>
          </a:prstGeom>
          <a:noFill/>
        </p:spPr>
        <p:txBody>
          <a:bodyPr wrap="none" lIns="73152" tIns="54864" rIns="73152" bIns="54864" anchor="ctr">
            <a:spAutoFit/>
          </a:bodyPr>
          <a:lstStyle/>
          <a:p>
            <a:pPr algn="l">
              <a:lnSpc>
                <a:spcPts val="1560"/>
              </a:lnSpc>
              <a:spcBef>
                <a:spcPts val="0"/>
              </a:spcBef>
              <a:spcAft>
                <a:spcPts val="520"/>
              </a:spcAft>
            </a:pPr>
            <a:r>
              <a:rPr sz="956" b="0">
                <a:solidFill>
                  <a:srgbClr val="374151"/>
                </a:solidFill>
                <a:latin typeface="Apple Color Emoji"/>
              </a:rPr>
              <a:t>display() behaves differently for Manager and HeadManager.</a:t>
            </a:r>
          </a:p>
        </p:txBody>
      </p:sp>
      <p:sp>
        <p:nvSpPr>
          <p:cNvPr id="16" name="Rounded Rectangle 15"/>
          <p:cNvSpPr/>
          <p:nvPr/>
        </p:nvSpPr>
        <p:spPr>
          <a:xfrm>
            <a:off x="800079" y="3924299"/>
            <a:ext cx="5029074" cy="581025"/>
          </a:xfrm>
          <a:prstGeom prst="roundRect">
            <a:avLst>
              <a:gd name="adj" fmla="val 26229"/>
            </a:avLst>
          </a:prstGeom>
          <a:solidFill>
            <a:srgbClr val="FFF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6278" y="4000500"/>
            <a:ext cx="4876678" cy="428625"/>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897" b="1">
                <a:solidFill>
                  <a:srgbClr val="D97706"/>
                </a:solidFill>
                <a:latin typeface="Apple Color Emoji"/>
              </a:rPr>
              <a:t>Example:</a:t>
            </a:r>
            <a:r>
              <a:rPr sz="897" b="0">
                <a:solidFill>
                  <a:srgbClr val="374151"/>
                </a:solidFill>
                <a:latin typeface="Apple Color Emoji"/>
              </a:rPr>
              <a:t> Manager shows contact info, HeadManager adds branch details</a:t>
            </a:r>
          </a:p>
        </p:txBody>
      </p:sp>
      <p:sp>
        <p:nvSpPr>
          <p:cNvPr id="18" name="Rounded Rectangle 17"/>
          <p:cNvSpPr/>
          <p:nvPr/>
        </p:nvSpPr>
        <p:spPr>
          <a:xfrm>
            <a:off x="571485" y="4819650"/>
            <a:ext cx="5410064" cy="1409699"/>
          </a:xfrm>
          <a:prstGeom prst="roundRect">
            <a:avLst>
              <a:gd name="adj" fmla="val 16216"/>
            </a:avLst>
          </a:prstGeom>
          <a:solidFill>
            <a:srgbClr val="FFFFFF"/>
          </a:solidFill>
          <a:ln w="825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image.png"/>
          <p:cNvPicPr>
            <a:picLocks noChangeAspect="1"/>
          </p:cNvPicPr>
          <p:nvPr/>
        </p:nvPicPr>
        <p:blipFill>
          <a:blip r:embed="rId4">
            <a:alphaModFix/>
          </a:blip>
          <a:stretch>
            <a:fillRect/>
          </a:stretch>
        </p:blipFill>
        <p:spPr>
          <a:xfrm>
            <a:off x="733406" y="5047020"/>
            <a:ext cx="171445" cy="154858"/>
          </a:xfrm>
          <a:prstGeom prst="rect">
            <a:avLst/>
          </a:prstGeom>
        </p:spPr>
      </p:pic>
      <p:sp>
        <p:nvSpPr>
          <p:cNvPr id="20" name="TextBox 19"/>
          <p:cNvSpPr txBox="1"/>
          <p:nvPr/>
        </p:nvSpPr>
        <p:spPr>
          <a:xfrm>
            <a:off x="733406" y="5334000"/>
            <a:ext cx="5086222" cy="219074"/>
          </a:xfrm>
          <a:prstGeom prst="rect">
            <a:avLst/>
          </a:prstGeom>
          <a:noFill/>
        </p:spPr>
        <p:txBody>
          <a:bodyPr wrap="none" lIns="182880" tIns="54864" rIns="73152" bIns="54864" anchor="ctr">
            <a:spAutoFit/>
          </a:bodyPr>
          <a:lstStyle/>
          <a:p>
            <a:pPr algn="l">
              <a:lnSpc>
                <a:spcPts val="1430"/>
              </a:lnSpc>
              <a:spcBef>
                <a:spcPts val="0"/>
              </a:spcBef>
              <a:spcAft>
                <a:spcPts val="0"/>
              </a:spcAft>
            </a:pPr>
            <a:r>
              <a:rPr sz="1104"/>
              <a:t>  </a:t>
            </a:r>
            <a:r>
              <a:rPr sz="897" b="0">
                <a:solidFill>
                  <a:srgbClr val="374151"/>
                </a:solidFill>
                <a:latin typeface="Apple Color Emoji"/>
              </a:rPr>
              <a:t> Flexible Code</a:t>
            </a:r>
          </a:p>
        </p:txBody>
      </p:sp>
      <p:pic>
        <p:nvPicPr>
          <p:cNvPr id="21" name="Picture 20" descr="image.png"/>
          <p:cNvPicPr>
            <a:picLocks noChangeAspect="1"/>
          </p:cNvPicPr>
          <p:nvPr/>
        </p:nvPicPr>
        <p:blipFill>
          <a:blip r:embed="rId5">
            <a:alphaModFix/>
          </a:blip>
          <a:stretch>
            <a:fillRect/>
          </a:stretch>
        </p:blipFill>
        <p:spPr>
          <a:xfrm>
            <a:off x="733406" y="5389244"/>
            <a:ext cx="133346" cy="80010"/>
          </a:xfrm>
          <a:prstGeom prst="rect">
            <a:avLst/>
          </a:prstGeom>
        </p:spPr>
      </p:pic>
      <p:sp>
        <p:nvSpPr>
          <p:cNvPr id="22" name="TextBox 21"/>
          <p:cNvSpPr txBox="1"/>
          <p:nvPr/>
        </p:nvSpPr>
        <p:spPr>
          <a:xfrm>
            <a:off x="733406" y="5591175"/>
            <a:ext cx="5086222" cy="219074"/>
          </a:xfrm>
          <a:prstGeom prst="rect">
            <a:avLst/>
          </a:prstGeom>
          <a:noFill/>
        </p:spPr>
        <p:txBody>
          <a:bodyPr wrap="none" lIns="182880" tIns="54864" rIns="73152" bIns="54864" anchor="ctr">
            <a:spAutoFit/>
          </a:bodyPr>
          <a:lstStyle/>
          <a:p>
            <a:pPr algn="l">
              <a:lnSpc>
                <a:spcPts val="1430"/>
              </a:lnSpc>
              <a:spcBef>
                <a:spcPts val="260"/>
              </a:spcBef>
              <a:spcAft>
                <a:spcPts val="0"/>
              </a:spcAft>
            </a:pPr>
            <a:r>
              <a:rPr sz="1104"/>
              <a:t>  </a:t>
            </a:r>
            <a:r>
              <a:rPr sz="897" b="0">
                <a:solidFill>
                  <a:srgbClr val="374151"/>
                </a:solidFill>
                <a:latin typeface="Apple Color Emoji"/>
              </a:rPr>
              <a:t> Easy Extension</a:t>
            </a:r>
          </a:p>
        </p:txBody>
      </p:sp>
      <p:pic>
        <p:nvPicPr>
          <p:cNvPr id="23" name="Picture 22" descr="image.png"/>
          <p:cNvPicPr>
            <a:picLocks noChangeAspect="1"/>
          </p:cNvPicPr>
          <p:nvPr/>
        </p:nvPicPr>
        <p:blipFill>
          <a:blip r:embed="rId6">
            <a:alphaModFix/>
          </a:blip>
          <a:stretch>
            <a:fillRect/>
          </a:stretch>
        </p:blipFill>
        <p:spPr>
          <a:xfrm>
            <a:off x="733406" y="5625083"/>
            <a:ext cx="133346" cy="122681"/>
          </a:xfrm>
          <a:prstGeom prst="rect">
            <a:avLst/>
          </a:prstGeom>
        </p:spPr>
      </p:pic>
      <p:sp>
        <p:nvSpPr>
          <p:cNvPr id="24" name="TextBox 23"/>
          <p:cNvSpPr txBox="1"/>
          <p:nvPr/>
        </p:nvSpPr>
        <p:spPr>
          <a:xfrm>
            <a:off x="733406" y="5848350"/>
            <a:ext cx="5086222" cy="219074"/>
          </a:xfrm>
          <a:prstGeom prst="rect">
            <a:avLst/>
          </a:prstGeom>
          <a:noFill/>
        </p:spPr>
        <p:txBody>
          <a:bodyPr wrap="none" lIns="182880" tIns="54864" rIns="73152" bIns="54864" anchor="ctr">
            <a:spAutoFit/>
          </a:bodyPr>
          <a:lstStyle/>
          <a:p>
            <a:pPr algn="l">
              <a:lnSpc>
                <a:spcPts val="1430"/>
              </a:lnSpc>
              <a:spcBef>
                <a:spcPts val="260"/>
              </a:spcBef>
              <a:spcAft>
                <a:spcPts val="0"/>
              </a:spcAft>
            </a:pPr>
            <a:r>
              <a:rPr sz="1104"/>
              <a:t>  </a:t>
            </a:r>
            <a:r>
              <a:rPr sz="897" b="0">
                <a:solidFill>
                  <a:srgbClr val="374151"/>
                </a:solidFill>
                <a:latin typeface="Apple Color Emoji"/>
              </a:rPr>
              <a:t> Dynamic Behavior</a:t>
            </a:r>
          </a:p>
        </p:txBody>
      </p:sp>
      <p:pic>
        <p:nvPicPr>
          <p:cNvPr id="25" name="Picture 24" descr="image.png"/>
          <p:cNvPicPr>
            <a:picLocks noChangeAspect="1"/>
          </p:cNvPicPr>
          <p:nvPr/>
        </p:nvPicPr>
        <p:blipFill>
          <a:blip r:embed="rId7">
            <a:alphaModFix/>
          </a:blip>
          <a:stretch>
            <a:fillRect/>
          </a:stretch>
        </p:blipFill>
        <p:spPr>
          <a:xfrm>
            <a:off x="733406" y="5894260"/>
            <a:ext cx="133346" cy="98679"/>
          </a:xfrm>
          <a:prstGeom prst="rect">
            <a:avLst/>
          </a:prstGeom>
        </p:spPr>
      </p:pic>
      <p:sp>
        <p:nvSpPr>
          <p:cNvPr id="26" name="Rectangle 25"/>
          <p:cNvSpPr/>
          <p:nvPr/>
        </p:nvSpPr>
        <p:spPr>
          <a:xfrm>
            <a:off x="6210144" y="1562100"/>
            <a:ext cx="5410064" cy="2476499"/>
          </a:xfrm>
          <a:prstGeom prst="rect">
            <a:avLst/>
          </a:prstGeom>
          <a:blipFill>
            <a:blip r:embed="rId8"/>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362540" y="3629025"/>
            <a:ext cx="3400339"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Different staff roles respond differently</a:t>
            </a:r>
          </a:p>
        </p:txBody>
      </p:sp>
      <p:sp>
        <p:nvSpPr>
          <p:cNvPr id="29" name="Rectangle 28"/>
          <p:cNvSpPr/>
          <p:nvPr/>
        </p:nvSpPr>
        <p:spPr>
          <a:xfrm>
            <a:off x="6210144" y="4190999"/>
            <a:ext cx="5410064" cy="2514600"/>
          </a:xfrm>
          <a:prstGeom prst="rect">
            <a:avLst/>
          </a:prstGeom>
          <a:blipFill>
            <a:blip r:embed="rId9"/>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362540" y="6296024"/>
            <a:ext cx="3714657"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Same display() function, different outputs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BEB"/>
            </a:gs>
            <a:gs pos="100000">
              <a:srgbClr val="FFF7ED"/>
            </a:gs>
          </a:gsLst>
          <a:lin ang="8100000" scaled="0"/>
        </a:gradFill>
        <a:effectLst/>
      </p:bgPr>
    </p:bg>
    <p:spTree>
      <p:nvGrpSpPr>
        <p:cNvPr id="1" name=""/>
        <p:cNvGrpSpPr/>
        <p:nvPr/>
      </p:nvGrpSpPr>
      <p:grpSpPr>
        <a:xfrm>
          <a:off x="0" y="0"/>
          <a:ext cx="0" cy="0"/>
          <a:chOff x="0" y="0"/>
          <a:chExt cx="0" cy="0"/>
        </a:xfrm>
      </p:grpSpPr>
      <p:sp>
        <p:nvSpPr>
          <p:cNvPr id="2" name="TextBox 1"/>
          <p:cNvSpPr txBox="1"/>
          <p:nvPr/>
        </p:nvSpPr>
        <p:spPr>
          <a:xfrm>
            <a:off x="571485" y="304800"/>
            <a:ext cx="11048723" cy="685800"/>
          </a:xfrm>
          <a:prstGeom prst="rect">
            <a:avLst/>
          </a:prstGeom>
          <a:noFill/>
        </p:spPr>
        <p:txBody>
          <a:bodyPr wrap="none" lIns="73152" tIns="54864" rIns="73152" bIns="54864" anchor="ctr">
            <a:spAutoFit/>
          </a:bodyPr>
          <a:lstStyle/>
          <a:p>
            <a:pPr algn="l">
              <a:lnSpc>
                <a:spcPts val="4680"/>
              </a:lnSpc>
              <a:spcBef>
                <a:spcPts val="0"/>
              </a:spcBef>
              <a:spcAft>
                <a:spcPts val="520"/>
              </a:spcAft>
            </a:pPr>
            <a:r>
              <a:rPr sz="2870" b="1">
                <a:solidFill>
                  <a:srgbClr val="9F1239"/>
                </a:solidFill>
                <a:latin typeface="Poppins"/>
              </a:rPr>
              <a:t>Operator Overloading</a:t>
            </a:r>
          </a:p>
        </p:txBody>
      </p:sp>
      <p:sp>
        <p:nvSpPr>
          <p:cNvPr id="3" name="TextBox 2"/>
          <p:cNvSpPr txBox="1"/>
          <p:nvPr/>
        </p:nvSpPr>
        <p:spPr>
          <a:xfrm>
            <a:off x="571485" y="1066799"/>
            <a:ext cx="11048723" cy="266699"/>
          </a:xfrm>
          <a:prstGeom prst="rect">
            <a:avLst/>
          </a:prstGeom>
          <a:noFill/>
        </p:spPr>
        <p:txBody>
          <a:bodyPr wrap="none" lIns="73152" tIns="54864" rIns="73152" bIns="54864" anchor="ctr">
            <a:spAutoFit/>
          </a:bodyPr>
          <a:lstStyle/>
          <a:p>
            <a:pPr algn="l">
              <a:lnSpc>
                <a:spcPts val="1820"/>
              </a:lnSpc>
              <a:spcBef>
                <a:spcPts val="0"/>
              </a:spcBef>
              <a:spcAft>
                <a:spcPts val="1560"/>
              </a:spcAft>
            </a:pPr>
            <a:r>
              <a:rPr sz="1196" b="0">
                <a:solidFill>
                  <a:srgbClr val="6B7280"/>
                </a:solidFill>
                <a:latin typeface="Poppins"/>
              </a:rPr>
              <a:t>Customizing Operator Behavior</a:t>
            </a:r>
          </a:p>
        </p:txBody>
      </p:sp>
      <p:sp>
        <p:nvSpPr>
          <p:cNvPr id="4" name="Rounded Rectangle 3"/>
          <p:cNvSpPr/>
          <p:nvPr/>
        </p:nvSpPr>
        <p:spPr>
          <a:xfrm>
            <a:off x="571485" y="1562100"/>
            <a:ext cx="5410064" cy="1724024"/>
          </a:xfrm>
          <a:prstGeom prst="roundRect">
            <a:avLst>
              <a:gd name="adj" fmla="val 1325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rot="16200000">
            <a:off x="-158447" y="2292032"/>
            <a:ext cx="1724024"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alphaModFix/>
          </a:blip>
          <a:stretch>
            <a:fillRect/>
          </a:stretch>
        </p:blipFill>
        <p:spPr>
          <a:xfrm>
            <a:off x="800079" y="1769745"/>
            <a:ext cx="228594" cy="194309"/>
          </a:xfrm>
          <a:prstGeom prst="rect">
            <a:avLst/>
          </a:prstGeom>
        </p:spPr>
      </p:pic>
      <p:sp>
        <p:nvSpPr>
          <p:cNvPr id="7" name="TextBox 6"/>
          <p:cNvSpPr txBox="1"/>
          <p:nvPr/>
        </p:nvSpPr>
        <p:spPr>
          <a:xfrm>
            <a:off x="1142971" y="1714500"/>
            <a:ext cx="3333666"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What is Operator Overloading?</a:t>
            </a:r>
          </a:p>
        </p:txBody>
      </p:sp>
      <p:sp>
        <p:nvSpPr>
          <p:cNvPr id="8" name="TextBox 7"/>
          <p:cNvSpPr txBox="1"/>
          <p:nvPr/>
        </p:nvSpPr>
        <p:spPr>
          <a:xfrm>
            <a:off x="800079" y="2105024"/>
            <a:ext cx="5029074" cy="228600"/>
          </a:xfrm>
          <a:prstGeom prst="rect">
            <a:avLst/>
          </a:prstGeom>
          <a:noFill/>
        </p:spPr>
        <p:txBody>
          <a:bodyPr wrap="none" lIns="73152" tIns="54864" rIns="73152" bIns="54864" anchor="ctr">
            <a:spAutoFit/>
          </a:bodyPr>
          <a:lstStyle/>
          <a:p>
            <a:pPr algn="l">
              <a:lnSpc>
                <a:spcPts val="1560"/>
              </a:lnSpc>
              <a:spcBef>
                <a:spcPts val="0"/>
              </a:spcBef>
              <a:spcAft>
                <a:spcPts val="520"/>
              </a:spcAft>
            </a:pPr>
            <a:r>
              <a:rPr sz="956" b="0">
                <a:solidFill>
                  <a:srgbClr val="374151"/>
                </a:solidFill>
                <a:latin typeface="Apple Color Emoji"/>
              </a:rPr>
              <a:t>Redefining how operators work with custom types.</a:t>
            </a:r>
          </a:p>
        </p:txBody>
      </p:sp>
      <p:sp>
        <p:nvSpPr>
          <p:cNvPr id="9" name="TextBox 8"/>
          <p:cNvSpPr txBox="1"/>
          <p:nvPr/>
        </p:nvSpPr>
        <p:spPr>
          <a:xfrm>
            <a:off x="800079" y="2409825"/>
            <a:ext cx="5029074" cy="219074"/>
          </a:xfrm>
          <a:prstGeom prst="rect">
            <a:avLst/>
          </a:prstGeom>
          <a:noFill/>
        </p:spPr>
        <p:txBody>
          <a:bodyPr wrap="none" lIns="182880" tIns="54864" rIns="73152" bIns="54864" anchor="ctr">
            <a:spAutoFit/>
          </a:bodyPr>
          <a:lstStyle/>
          <a:p>
            <a:pPr algn="l">
              <a:lnSpc>
                <a:spcPts val="1430"/>
              </a:lnSpc>
              <a:spcBef>
                <a:spcPts val="0"/>
              </a:spcBef>
              <a:spcAft>
                <a:spcPts val="0"/>
              </a:spcAft>
            </a:pPr>
            <a:r>
              <a:rPr sz="1104"/>
              <a:t>  </a:t>
            </a:r>
            <a:r>
              <a:rPr sz="897" b="0">
                <a:solidFill>
                  <a:srgbClr val="374151"/>
                </a:solidFill>
                <a:latin typeface="Apple Color Emoji"/>
              </a:rPr>
              <a:t> Intuitive Syntax</a:t>
            </a:r>
          </a:p>
        </p:txBody>
      </p:sp>
      <p:pic>
        <p:nvPicPr>
          <p:cNvPr id="10" name="Picture 9" descr="image.png"/>
          <p:cNvPicPr>
            <a:picLocks noChangeAspect="1"/>
          </p:cNvPicPr>
          <p:nvPr/>
        </p:nvPicPr>
        <p:blipFill>
          <a:blip r:embed="rId3">
            <a:alphaModFix/>
          </a:blip>
          <a:stretch>
            <a:fillRect/>
          </a:stretch>
        </p:blipFill>
        <p:spPr>
          <a:xfrm>
            <a:off x="800079" y="2446400"/>
            <a:ext cx="133346" cy="117348"/>
          </a:xfrm>
          <a:prstGeom prst="rect">
            <a:avLst/>
          </a:prstGeom>
        </p:spPr>
      </p:pic>
      <p:sp>
        <p:nvSpPr>
          <p:cNvPr id="11" name="TextBox 10"/>
          <p:cNvSpPr txBox="1"/>
          <p:nvPr/>
        </p:nvSpPr>
        <p:spPr>
          <a:xfrm>
            <a:off x="800079" y="2667000"/>
            <a:ext cx="5029074" cy="219074"/>
          </a:xfrm>
          <a:prstGeom prst="rect">
            <a:avLst/>
          </a:prstGeom>
          <a:noFill/>
        </p:spPr>
        <p:txBody>
          <a:bodyPr wrap="none" lIns="182880" tIns="54864" rIns="73152" bIns="54864" anchor="ctr">
            <a:spAutoFit/>
          </a:bodyPr>
          <a:lstStyle/>
          <a:p>
            <a:pPr algn="l">
              <a:lnSpc>
                <a:spcPts val="1430"/>
              </a:lnSpc>
              <a:spcBef>
                <a:spcPts val="260"/>
              </a:spcBef>
              <a:spcAft>
                <a:spcPts val="0"/>
              </a:spcAft>
            </a:pPr>
            <a:r>
              <a:rPr sz="1104"/>
              <a:t>  </a:t>
            </a:r>
            <a:r>
              <a:rPr sz="897" b="0">
                <a:solidFill>
                  <a:srgbClr val="374151"/>
                </a:solidFill>
                <a:latin typeface="Apple Color Emoji"/>
              </a:rPr>
              <a:t> Business Logic</a:t>
            </a:r>
          </a:p>
        </p:txBody>
      </p:sp>
      <p:pic>
        <p:nvPicPr>
          <p:cNvPr id="12" name="Picture 11" descr="image.png"/>
          <p:cNvPicPr>
            <a:picLocks noChangeAspect="1"/>
          </p:cNvPicPr>
          <p:nvPr/>
        </p:nvPicPr>
        <p:blipFill>
          <a:blip r:embed="rId3">
            <a:alphaModFix/>
          </a:blip>
          <a:stretch>
            <a:fillRect/>
          </a:stretch>
        </p:blipFill>
        <p:spPr>
          <a:xfrm>
            <a:off x="800079" y="2703575"/>
            <a:ext cx="133346" cy="117348"/>
          </a:xfrm>
          <a:prstGeom prst="rect">
            <a:avLst/>
          </a:prstGeom>
        </p:spPr>
      </p:pic>
      <p:sp>
        <p:nvSpPr>
          <p:cNvPr id="13" name="TextBox 12"/>
          <p:cNvSpPr txBox="1"/>
          <p:nvPr/>
        </p:nvSpPr>
        <p:spPr>
          <a:xfrm>
            <a:off x="800079" y="2914650"/>
            <a:ext cx="5029074" cy="219074"/>
          </a:xfrm>
          <a:prstGeom prst="rect">
            <a:avLst/>
          </a:prstGeom>
          <a:noFill/>
        </p:spPr>
        <p:txBody>
          <a:bodyPr wrap="none" lIns="182880" tIns="54864" rIns="73152" bIns="54864" anchor="ctr">
            <a:spAutoFit/>
          </a:bodyPr>
          <a:lstStyle/>
          <a:p>
            <a:pPr algn="l">
              <a:lnSpc>
                <a:spcPts val="1430"/>
              </a:lnSpc>
              <a:spcBef>
                <a:spcPts val="260"/>
              </a:spcBef>
              <a:spcAft>
                <a:spcPts val="0"/>
              </a:spcAft>
            </a:pPr>
            <a:r>
              <a:rPr sz="1104"/>
              <a:t>  </a:t>
            </a:r>
            <a:r>
              <a:rPr sz="897" b="0">
                <a:solidFill>
                  <a:srgbClr val="374151"/>
                </a:solidFill>
                <a:latin typeface="Apple Color Emoji"/>
              </a:rPr>
              <a:t> Consistency</a:t>
            </a:r>
          </a:p>
        </p:txBody>
      </p:sp>
      <p:pic>
        <p:nvPicPr>
          <p:cNvPr id="14" name="Picture 13" descr="image.png"/>
          <p:cNvPicPr>
            <a:picLocks noChangeAspect="1"/>
          </p:cNvPicPr>
          <p:nvPr/>
        </p:nvPicPr>
        <p:blipFill>
          <a:blip r:embed="rId3">
            <a:alphaModFix/>
          </a:blip>
          <a:stretch>
            <a:fillRect/>
          </a:stretch>
        </p:blipFill>
        <p:spPr>
          <a:xfrm>
            <a:off x="800079" y="2951225"/>
            <a:ext cx="133346" cy="117348"/>
          </a:xfrm>
          <a:prstGeom prst="rect">
            <a:avLst/>
          </a:prstGeom>
        </p:spPr>
      </p:pic>
      <p:sp>
        <p:nvSpPr>
          <p:cNvPr id="15" name="Rounded Rectangle 14"/>
          <p:cNvSpPr/>
          <p:nvPr/>
        </p:nvSpPr>
        <p:spPr>
          <a:xfrm>
            <a:off x="571485" y="3429000"/>
            <a:ext cx="5410064" cy="1200150"/>
          </a:xfrm>
          <a:prstGeom prst="roundRect">
            <a:avLst>
              <a:gd name="adj" fmla="val 1904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 Same Side Corner Rectangle 15"/>
          <p:cNvSpPr/>
          <p:nvPr/>
        </p:nvSpPr>
        <p:spPr>
          <a:xfrm rot="16200000">
            <a:off x="103490" y="3896995"/>
            <a:ext cx="1200150"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png"/>
          <p:cNvPicPr>
            <a:picLocks noChangeAspect="1"/>
          </p:cNvPicPr>
          <p:nvPr/>
        </p:nvPicPr>
        <p:blipFill>
          <a:blip r:embed="rId4">
            <a:alphaModFix/>
          </a:blip>
          <a:stretch>
            <a:fillRect/>
          </a:stretch>
        </p:blipFill>
        <p:spPr>
          <a:xfrm>
            <a:off x="800079" y="3646170"/>
            <a:ext cx="228594" cy="194309"/>
          </a:xfrm>
          <a:prstGeom prst="rect">
            <a:avLst/>
          </a:prstGeom>
        </p:spPr>
      </p:pic>
      <p:sp>
        <p:nvSpPr>
          <p:cNvPr id="18" name="TextBox 17"/>
          <p:cNvSpPr txBox="1"/>
          <p:nvPr/>
        </p:nvSpPr>
        <p:spPr>
          <a:xfrm>
            <a:off x="1142971" y="3581400"/>
            <a:ext cx="4305192"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Operator Overloading in Our Restaurant</a:t>
            </a:r>
          </a:p>
        </p:txBody>
      </p:sp>
      <p:sp>
        <p:nvSpPr>
          <p:cNvPr id="19" name="TextBox 18"/>
          <p:cNvSpPr txBox="1"/>
          <p:nvPr/>
        </p:nvSpPr>
        <p:spPr>
          <a:xfrm>
            <a:off x="800079" y="3981449"/>
            <a:ext cx="5029074" cy="219074"/>
          </a:xfrm>
          <a:prstGeom prst="rect">
            <a:avLst/>
          </a:prstGeom>
          <a:noFill/>
        </p:spPr>
        <p:txBody>
          <a:bodyPr wrap="none" lIns="182880" tIns="54864" rIns="73152" bIns="54864" anchor="ctr">
            <a:spAutoFit/>
          </a:bodyPr>
          <a:lstStyle/>
          <a:p>
            <a:pPr algn="l">
              <a:lnSpc>
                <a:spcPts val="1430"/>
              </a:lnSpc>
              <a:spcBef>
                <a:spcPts val="0"/>
              </a:spcBef>
              <a:spcAft>
                <a:spcPts val="0"/>
              </a:spcAft>
            </a:pPr>
            <a:r>
              <a:rPr sz="1104"/>
              <a:t>  </a:t>
            </a:r>
            <a:r>
              <a:rPr sz="897" b="0">
                <a:solidFill>
                  <a:srgbClr val="374151"/>
                </a:solidFill>
                <a:latin typeface="Apple Color Emoji"/>
              </a:rPr>
              <a:t> MenuItem + MenuItem = Combo Deal</a:t>
            </a:r>
          </a:p>
        </p:txBody>
      </p:sp>
      <p:pic>
        <p:nvPicPr>
          <p:cNvPr id="20" name="Picture 19" descr="image.png"/>
          <p:cNvPicPr>
            <a:picLocks noChangeAspect="1"/>
          </p:cNvPicPr>
          <p:nvPr/>
        </p:nvPicPr>
        <p:blipFill>
          <a:blip r:embed="rId5">
            <a:alphaModFix/>
          </a:blip>
          <a:stretch>
            <a:fillRect/>
          </a:stretch>
        </p:blipFill>
        <p:spPr>
          <a:xfrm>
            <a:off x="800079" y="4022026"/>
            <a:ext cx="133346" cy="109347"/>
          </a:xfrm>
          <a:prstGeom prst="rect">
            <a:avLst/>
          </a:prstGeom>
        </p:spPr>
      </p:pic>
      <p:sp>
        <p:nvSpPr>
          <p:cNvPr id="21" name="TextBox 20"/>
          <p:cNvSpPr txBox="1"/>
          <p:nvPr/>
        </p:nvSpPr>
        <p:spPr>
          <a:xfrm>
            <a:off x="800079" y="4267199"/>
            <a:ext cx="5029074" cy="219074"/>
          </a:xfrm>
          <a:prstGeom prst="rect">
            <a:avLst/>
          </a:prstGeom>
          <a:noFill/>
        </p:spPr>
        <p:txBody>
          <a:bodyPr wrap="none" lIns="182880" tIns="54864" rIns="73152" bIns="54864" anchor="ctr">
            <a:spAutoFit/>
          </a:bodyPr>
          <a:lstStyle/>
          <a:p>
            <a:pPr algn="l">
              <a:lnSpc>
                <a:spcPts val="1430"/>
              </a:lnSpc>
              <a:spcBef>
                <a:spcPts val="520"/>
              </a:spcBef>
              <a:spcAft>
                <a:spcPts val="0"/>
              </a:spcAft>
            </a:pPr>
            <a:r>
              <a:rPr sz="1104"/>
              <a:t>  </a:t>
            </a:r>
            <a:r>
              <a:rPr sz="897" b="0">
                <a:solidFill>
                  <a:srgbClr val="374151"/>
                </a:solidFill>
                <a:latin typeface="Apple Color Emoji"/>
              </a:rPr>
              <a:t> Order + Order = Merged Bill</a:t>
            </a:r>
          </a:p>
        </p:txBody>
      </p:sp>
      <p:pic>
        <p:nvPicPr>
          <p:cNvPr id="22" name="Picture 21" descr="image.png"/>
          <p:cNvPicPr>
            <a:picLocks noChangeAspect="1"/>
          </p:cNvPicPr>
          <p:nvPr/>
        </p:nvPicPr>
        <p:blipFill>
          <a:blip r:embed="rId6">
            <a:alphaModFix/>
          </a:blip>
          <a:stretch>
            <a:fillRect/>
          </a:stretch>
        </p:blipFill>
        <p:spPr>
          <a:xfrm>
            <a:off x="800079" y="4303775"/>
            <a:ext cx="133346" cy="117348"/>
          </a:xfrm>
          <a:prstGeom prst="rect">
            <a:avLst/>
          </a:prstGeom>
        </p:spPr>
      </p:pic>
      <p:sp>
        <p:nvSpPr>
          <p:cNvPr id="23" name="Rounded Rectangle 22"/>
          <p:cNvSpPr/>
          <p:nvPr/>
        </p:nvSpPr>
        <p:spPr>
          <a:xfrm>
            <a:off x="571485" y="4781549"/>
            <a:ext cx="5410064" cy="1409699"/>
          </a:xfrm>
          <a:prstGeom prst="roundRect">
            <a:avLst>
              <a:gd name="adj" fmla="val 16216"/>
            </a:avLst>
          </a:prstGeom>
          <a:solidFill>
            <a:srgbClr val="FFFFFF"/>
          </a:solidFill>
          <a:ln w="825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png"/>
          <p:cNvPicPr>
            <a:picLocks noChangeAspect="1"/>
          </p:cNvPicPr>
          <p:nvPr/>
        </p:nvPicPr>
        <p:blipFill>
          <a:blip r:embed="rId7">
            <a:alphaModFix/>
          </a:blip>
          <a:stretch>
            <a:fillRect/>
          </a:stretch>
        </p:blipFill>
        <p:spPr>
          <a:xfrm>
            <a:off x="733406" y="5008920"/>
            <a:ext cx="171445" cy="154858"/>
          </a:xfrm>
          <a:prstGeom prst="rect">
            <a:avLst/>
          </a:prstGeom>
        </p:spPr>
      </p:pic>
      <p:sp>
        <p:nvSpPr>
          <p:cNvPr id="25" name="TextBox 24"/>
          <p:cNvSpPr txBox="1"/>
          <p:nvPr/>
        </p:nvSpPr>
        <p:spPr>
          <a:xfrm>
            <a:off x="733406" y="5314950"/>
            <a:ext cx="5086222" cy="219074"/>
          </a:xfrm>
          <a:prstGeom prst="rect">
            <a:avLst/>
          </a:prstGeom>
          <a:noFill/>
        </p:spPr>
        <p:txBody>
          <a:bodyPr wrap="none" lIns="182880" tIns="54864" rIns="73152" bIns="54864" anchor="ctr">
            <a:spAutoFit/>
          </a:bodyPr>
          <a:lstStyle/>
          <a:p>
            <a:pPr algn="l">
              <a:lnSpc>
                <a:spcPts val="1430"/>
              </a:lnSpc>
              <a:spcBef>
                <a:spcPts val="0"/>
              </a:spcBef>
              <a:spcAft>
                <a:spcPts val="0"/>
              </a:spcAft>
            </a:pPr>
            <a:r>
              <a:rPr sz="1104"/>
              <a:t>  </a:t>
            </a:r>
            <a:r>
              <a:rPr sz="897" b="0">
                <a:solidFill>
                  <a:srgbClr val="374151"/>
                </a:solidFill>
                <a:latin typeface="Apple Color Emoji"/>
              </a:rPr>
              <a:t> Natural Expression</a:t>
            </a:r>
          </a:p>
        </p:txBody>
      </p:sp>
      <p:pic>
        <p:nvPicPr>
          <p:cNvPr id="26" name="Picture 25" descr="image.png"/>
          <p:cNvPicPr>
            <a:picLocks noChangeAspect="1"/>
          </p:cNvPicPr>
          <p:nvPr/>
        </p:nvPicPr>
        <p:blipFill>
          <a:blip r:embed="rId8">
            <a:alphaModFix/>
          </a:blip>
          <a:stretch>
            <a:fillRect/>
          </a:stretch>
        </p:blipFill>
        <p:spPr>
          <a:xfrm>
            <a:off x="733406" y="5356859"/>
            <a:ext cx="133346" cy="106680"/>
          </a:xfrm>
          <a:prstGeom prst="rect">
            <a:avLst/>
          </a:prstGeom>
        </p:spPr>
      </p:pic>
      <p:sp>
        <p:nvSpPr>
          <p:cNvPr id="27" name="TextBox 26"/>
          <p:cNvSpPr txBox="1"/>
          <p:nvPr/>
        </p:nvSpPr>
        <p:spPr>
          <a:xfrm>
            <a:off x="733406" y="5562600"/>
            <a:ext cx="5086222" cy="219074"/>
          </a:xfrm>
          <a:prstGeom prst="rect">
            <a:avLst/>
          </a:prstGeom>
          <a:noFill/>
        </p:spPr>
        <p:txBody>
          <a:bodyPr wrap="none" lIns="182880" tIns="54864" rIns="73152" bIns="54864" anchor="ctr">
            <a:spAutoFit/>
          </a:bodyPr>
          <a:lstStyle/>
          <a:p>
            <a:pPr algn="l">
              <a:lnSpc>
                <a:spcPts val="1430"/>
              </a:lnSpc>
              <a:spcBef>
                <a:spcPts val="260"/>
              </a:spcBef>
              <a:spcAft>
                <a:spcPts val="0"/>
              </a:spcAft>
            </a:pPr>
            <a:r>
              <a:rPr sz="1104"/>
              <a:t>  </a:t>
            </a:r>
            <a:r>
              <a:rPr sz="897" b="0">
                <a:solidFill>
                  <a:srgbClr val="374151"/>
                </a:solidFill>
                <a:latin typeface="Apple Color Emoji"/>
              </a:rPr>
              <a:t> Business Rules</a:t>
            </a:r>
          </a:p>
        </p:txBody>
      </p:sp>
      <p:pic>
        <p:nvPicPr>
          <p:cNvPr id="28" name="Picture 27" descr="image.png"/>
          <p:cNvPicPr>
            <a:picLocks noChangeAspect="1"/>
          </p:cNvPicPr>
          <p:nvPr/>
        </p:nvPicPr>
        <p:blipFill>
          <a:blip r:embed="rId9">
            <a:alphaModFix/>
          </a:blip>
          <a:stretch>
            <a:fillRect/>
          </a:stretch>
        </p:blipFill>
        <p:spPr>
          <a:xfrm>
            <a:off x="733406" y="5599176"/>
            <a:ext cx="133346" cy="117348"/>
          </a:xfrm>
          <a:prstGeom prst="rect">
            <a:avLst/>
          </a:prstGeom>
        </p:spPr>
      </p:pic>
      <p:sp>
        <p:nvSpPr>
          <p:cNvPr id="29" name="TextBox 28"/>
          <p:cNvSpPr txBox="1"/>
          <p:nvPr/>
        </p:nvSpPr>
        <p:spPr>
          <a:xfrm>
            <a:off x="733406" y="5810249"/>
            <a:ext cx="5086222" cy="219074"/>
          </a:xfrm>
          <a:prstGeom prst="rect">
            <a:avLst/>
          </a:prstGeom>
          <a:noFill/>
        </p:spPr>
        <p:txBody>
          <a:bodyPr wrap="none" lIns="182880" tIns="54864" rIns="73152" bIns="54864" anchor="ctr">
            <a:spAutoFit/>
          </a:bodyPr>
          <a:lstStyle/>
          <a:p>
            <a:pPr algn="l">
              <a:lnSpc>
                <a:spcPts val="1430"/>
              </a:lnSpc>
              <a:spcBef>
                <a:spcPts val="260"/>
              </a:spcBef>
              <a:spcAft>
                <a:spcPts val="0"/>
              </a:spcAft>
            </a:pPr>
            <a:r>
              <a:rPr sz="1104"/>
              <a:t>  </a:t>
            </a:r>
            <a:r>
              <a:rPr sz="897" b="0">
                <a:solidFill>
                  <a:srgbClr val="374151"/>
                </a:solidFill>
                <a:latin typeface="Apple Color Emoji"/>
              </a:rPr>
              <a:t> Clean Code</a:t>
            </a:r>
          </a:p>
        </p:txBody>
      </p:sp>
      <p:pic>
        <p:nvPicPr>
          <p:cNvPr id="30" name="Picture 29" descr="image.png"/>
          <p:cNvPicPr>
            <a:picLocks noChangeAspect="1"/>
          </p:cNvPicPr>
          <p:nvPr/>
        </p:nvPicPr>
        <p:blipFill>
          <a:blip r:embed="rId10">
            <a:alphaModFix/>
          </a:blip>
          <a:stretch>
            <a:fillRect/>
          </a:stretch>
        </p:blipFill>
        <p:spPr>
          <a:xfrm>
            <a:off x="733406" y="5841491"/>
            <a:ext cx="133346" cy="128016"/>
          </a:xfrm>
          <a:prstGeom prst="rect">
            <a:avLst/>
          </a:prstGeom>
        </p:spPr>
      </p:pic>
      <p:sp>
        <p:nvSpPr>
          <p:cNvPr id="31" name="Rectangle 30"/>
          <p:cNvSpPr/>
          <p:nvPr/>
        </p:nvSpPr>
        <p:spPr>
          <a:xfrm>
            <a:off x="6210144" y="1562100"/>
            <a:ext cx="5410064" cy="2495550"/>
          </a:xfrm>
          <a:prstGeom prst="rect">
            <a:avLst/>
          </a:prstGeom>
          <a:blipFill>
            <a:blip r:embed="rId11"/>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62540" y="3648074"/>
            <a:ext cx="4000399"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Menu combos: Biryani + Kabab = Combo Deal</a:t>
            </a:r>
          </a:p>
        </p:txBody>
      </p:sp>
      <p:sp>
        <p:nvSpPr>
          <p:cNvPr id="34" name="Rectangle 33"/>
          <p:cNvSpPr/>
          <p:nvPr/>
        </p:nvSpPr>
        <p:spPr>
          <a:xfrm>
            <a:off x="6210144" y="4210049"/>
            <a:ext cx="5410064" cy="2495550"/>
          </a:xfrm>
          <a:prstGeom prst="rect">
            <a:avLst/>
          </a:prstGeom>
          <a:blipFill>
            <a:blip r:embed="rId12"/>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62540" y="6296024"/>
            <a:ext cx="3305092"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Combining dishes with the + operator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BEB"/>
            </a:gs>
            <a:gs pos="100000">
              <a:srgbClr val="FFF7ED"/>
            </a:gs>
          </a:gsLst>
          <a:lin ang="8100000" scaled="0"/>
        </a:gradFill>
        <a:effectLst/>
      </p:bgPr>
    </p:bg>
    <p:spTree>
      <p:nvGrpSpPr>
        <p:cNvPr id="1" name=""/>
        <p:cNvGrpSpPr/>
        <p:nvPr/>
      </p:nvGrpSpPr>
      <p:grpSpPr>
        <a:xfrm>
          <a:off x="0" y="0"/>
          <a:ext cx="0" cy="0"/>
          <a:chOff x="0" y="0"/>
          <a:chExt cx="0" cy="0"/>
        </a:xfrm>
      </p:grpSpPr>
      <p:sp>
        <p:nvSpPr>
          <p:cNvPr id="2" name="TextBox 1"/>
          <p:cNvSpPr txBox="1"/>
          <p:nvPr/>
        </p:nvSpPr>
        <p:spPr>
          <a:xfrm>
            <a:off x="571485" y="304800"/>
            <a:ext cx="11048723" cy="685800"/>
          </a:xfrm>
          <a:prstGeom prst="rect">
            <a:avLst/>
          </a:prstGeom>
          <a:noFill/>
        </p:spPr>
        <p:txBody>
          <a:bodyPr wrap="none" lIns="73152" tIns="54864" rIns="73152" bIns="54864" anchor="ctr">
            <a:spAutoFit/>
          </a:bodyPr>
          <a:lstStyle/>
          <a:p>
            <a:pPr algn="l">
              <a:lnSpc>
                <a:spcPts val="4680"/>
              </a:lnSpc>
              <a:spcBef>
                <a:spcPts val="0"/>
              </a:spcBef>
              <a:spcAft>
                <a:spcPts val="520"/>
              </a:spcAft>
            </a:pPr>
            <a:r>
              <a:rPr sz="2870" b="1">
                <a:solidFill>
                  <a:srgbClr val="9F1239"/>
                </a:solidFill>
                <a:latin typeface="Poppins"/>
              </a:rPr>
              <a:t>How It All Works Together</a:t>
            </a:r>
          </a:p>
        </p:txBody>
      </p:sp>
      <p:sp>
        <p:nvSpPr>
          <p:cNvPr id="3" name="TextBox 2"/>
          <p:cNvSpPr txBox="1"/>
          <p:nvPr/>
        </p:nvSpPr>
        <p:spPr>
          <a:xfrm>
            <a:off x="571485" y="1066799"/>
            <a:ext cx="11048723" cy="266699"/>
          </a:xfrm>
          <a:prstGeom prst="rect">
            <a:avLst/>
          </a:prstGeom>
          <a:noFill/>
        </p:spPr>
        <p:txBody>
          <a:bodyPr wrap="none" lIns="73152" tIns="54864" rIns="73152" bIns="54864" anchor="ctr">
            <a:spAutoFit/>
          </a:bodyPr>
          <a:lstStyle/>
          <a:p>
            <a:pPr algn="l">
              <a:lnSpc>
                <a:spcPts val="1820"/>
              </a:lnSpc>
              <a:spcBef>
                <a:spcPts val="0"/>
              </a:spcBef>
              <a:spcAft>
                <a:spcPts val="1560"/>
              </a:spcAft>
            </a:pPr>
            <a:r>
              <a:rPr sz="1196" b="0">
                <a:solidFill>
                  <a:srgbClr val="6B7280"/>
                </a:solidFill>
                <a:latin typeface="Poppins"/>
              </a:rPr>
              <a:t>Integration of OOP Concepts</a:t>
            </a:r>
          </a:p>
        </p:txBody>
      </p:sp>
      <p:sp>
        <p:nvSpPr>
          <p:cNvPr id="4" name="Rounded Rectangle 3"/>
          <p:cNvSpPr/>
          <p:nvPr/>
        </p:nvSpPr>
        <p:spPr>
          <a:xfrm>
            <a:off x="571485" y="1562100"/>
            <a:ext cx="5410064" cy="1685925"/>
          </a:xfrm>
          <a:prstGeom prst="roundRect">
            <a:avLst>
              <a:gd name="adj" fmla="val 1355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rot="16200000">
            <a:off x="-139397" y="2272982"/>
            <a:ext cx="1685925"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alphaModFix/>
          </a:blip>
          <a:stretch>
            <a:fillRect/>
          </a:stretch>
        </p:blipFill>
        <p:spPr>
          <a:xfrm>
            <a:off x="838179" y="1816417"/>
            <a:ext cx="228594" cy="177164"/>
          </a:xfrm>
          <a:prstGeom prst="rect">
            <a:avLst/>
          </a:prstGeom>
        </p:spPr>
      </p:pic>
      <p:sp>
        <p:nvSpPr>
          <p:cNvPr id="7" name="TextBox 6"/>
          <p:cNvSpPr txBox="1"/>
          <p:nvPr/>
        </p:nvSpPr>
        <p:spPr>
          <a:xfrm>
            <a:off x="1181070" y="1752599"/>
            <a:ext cx="4190895"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Multilevel Inheritance &amp; Polymorphism</a:t>
            </a:r>
          </a:p>
        </p:txBody>
      </p:sp>
      <p:sp>
        <p:nvSpPr>
          <p:cNvPr id="8" name="TextBox 7"/>
          <p:cNvSpPr txBox="1"/>
          <p:nvPr/>
        </p:nvSpPr>
        <p:spPr>
          <a:xfrm>
            <a:off x="838179" y="2143125"/>
            <a:ext cx="4952876" cy="914400"/>
          </a:xfrm>
          <a:prstGeom prst="rect">
            <a:avLst/>
          </a:prstGeom>
          <a:noFill/>
        </p:spPr>
        <p:txBody>
          <a:bodyPr wrap="square" lIns="73152" tIns="54864" rIns="73152" bIns="54864" anchor="ctr">
            <a:spAutoFit/>
          </a:bodyPr>
          <a:lstStyle/>
          <a:p>
            <a:pPr algn="l">
              <a:lnSpc>
                <a:spcPts val="1560"/>
              </a:lnSpc>
              <a:spcBef>
                <a:spcPts val="0"/>
              </a:spcBef>
              <a:spcAft>
                <a:spcPts val="0"/>
              </a:spcAft>
            </a:pPr>
            <a:r>
              <a:rPr sz="956" b="0">
                <a:solidFill>
                  <a:srgbClr val="374151"/>
                </a:solidFill>
                <a:latin typeface="Apple Color Emoji"/>
              </a:rPr>
              <a:t>The system creates Manager and HeadManager objects, but accesses them through Employee references. When display() is called, the program automatically determines which implementation to execute based on the actual object type.</a:t>
            </a:r>
          </a:p>
        </p:txBody>
      </p:sp>
      <p:sp>
        <p:nvSpPr>
          <p:cNvPr id="9" name="Rounded Rectangle 8"/>
          <p:cNvSpPr/>
          <p:nvPr/>
        </p:nvSpPr>
        <p:spPr>
          <a:xfrm>
            <a:off x="571485" y="3400425"/>
            <a:ext cx="5410064" cy="1685925"/>
          </a:xfrm>
          <a:prstGeom prst="roundRect">
            <a:avLst>
              <a:gd name="adj" fmla="val 1355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 Same Side Corner Rectangle 9"/>
          <p:cNvSpPr/>
          <p:nvPr/>
        </p:nvSpPr>
        <p:spPr>
          <a:xfrm rot="16200000">
            <a:off x="-139397" y="4111307"/>
            <a:ext cx="1685925"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3">
            <a:alphaModFix/>
          </a:blip>
          <a:stretch>
            <a:fillRect/>
          </a:stretch>
        </p:blipFill>
        <p:spPr>
          <a:xfrm>
            <a:off x="838179" y="3661410"/>
            <a:ext cx="228594" cy="182879"/>
          </a:xfrm>
          <a:prstGeom prst="rect">
            <a:avLst/>
          </a:prstGeom>
        </p:spPr>
      </p:pic>
      <p:sp>
        <p:nvSpPr>
          <p:cNvPr id="12" name="TextBox 11"/>
          <p:cNvSpPr txBox="1"/>
          <p:nvPr/>
        </p:nvSpPr>
        <p:spPr>
          <a:xfrm>
            <a:off x="1181070" y="3590924"/>
            <a:ext cx="1857328"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Menu Operations</a:t>
            </a:r>
          </a:p>
        </p:txBody>
      </p:sp>
      <p:sp>
        <p:nvSpPr>
          <p:cNvPr id="13" name="TextBox 12"/>
          <p:cNvSpPr txBox="1"/>
          <p:nvPr/>
        </p:nvSpPr>
        <p:spPr>
          <a:xfrm>
            <a:off x="838179" y="3981449"/>
            <a:ext cx="4952876" cy="914400"/>
          </a:xfrm>
          <a:prstGeom prst="rect">
            <a:avLst/>
          </a:prstGeom>
          <a:noFill/>
        </p:spPr>
        <p:txBody>
          <a:bodyPr wrap="square" lIns="73152" tIns="54864" rIns="73152" bIns="54864" anchor="ctr">
            <a:spAutoFit/>
          </a:bodyPr>
          <a:lstStyle/>
          <a:p>
            <a:pPr algn="l">
              <a:lnSpc>
                <a:spcPts val="1560"/>
              </a:lnSpc>
              <a:spcBef>
                <a:spcPts val="0"/>
              </a:spcBef>
              <a:spcAft>
                <a:spcPts val="0"/>
              </a:spcAft>
            </a:pPr>
            <a:r>
              <a:rPr sz="956" b="0">
                <a:solidFill>
                  <a:srgbClr val="374151"/>
                </a:solidFill>
                <a:latin typeface="Apple Color Emoji"/>
              </a:rPr>
              <a:t>Individual menu items like Chicken Biryani and Seekh Kabab are created using encapsulation. The + operator is then used to combine them into a combo deal with an automatic Rs.50 discount, demonstrating operator overloading.</a:t>
            </a:r>
          </a:p>
        </p:txBody>
      </p:sp>
      <p:sp>
        <p:nvSpPr>
          <p:cNvPr id="14" name="Rounded Rectangle 13"/>
          <p:cNvSpPr/>
          <p:nvPr/>
        </p:nvSpPr>
        <p:spPr>
          <a:xfrm>
            <a:off x="571485" y="5238749"/>
            <a:ext cx="5410064" cy="1685925"/>
          </a:xfrm>
          <a:prstGeom prst="roundRect">
            <a:avLst>
              <a:gd name="adj" fmla="val 1355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 Same Side Corner Rectangle 14"/>
          <p:cNvSpPr/>
          <p:nvPr/>
        </p:nvSpPr>
        <p:spPr>
          <a:xfrm rot="16200000">
            <a:off x="-139397" y="5949631"/>
            <a:ext cx="1685925" cy="264160"/>
          </a:xfrm>
          <a:prstGeom prst="round2SameRect">
            <a:avLst>
              <a:gd name="adj1" fmla="val 50000"/>
              <a:gd name="adj2" fmla="val 0"/>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image.png"/>
          <p:cNvPicPr>
            <a:picLocks noChangeAspect="1"/>
          </p:cNvPicPr>
          <p:nvPr/>
        </p:nvPicPr>
        <p:blipFill>
          <a:blip r:embed="rId4">
            <a:alphaModFix/>
          </a:blip>
          <a:stretch>
            <a:fillRect/>
          </a:stretch>
        </p:blipFill>
        <p:spPr>
          <a:xfrm>
            <a:off x="838179" y="5484494"/>
            <a:ext cx="228594" cy="194309"/>
          </a:xfrm>
          <a:prstGeom prst="rect">
            <a:avLst/>
          </a:prstGeom>
        </p:spPr>
      </p:pic>
      <p:sp>
        <p:nvSpPr>
          <p:cNvPr id="17" name="TextBox 16"/>
          <p:cNvSpPr txBox="1"/>
          <p:nvPr/>
        </p:nvSpPr>
        <p:spPr>
          <a:xfrm>
            <a:off x="1181070" y="5429250"/>
            <a:ext cx="1847803" cy="314325"/>
          </a:xfrm>
          <a:prstGeom prst="rect">
            <a:avLst/>
          </a:prstGeom>
          <a:noFill/>
        </p:spPr>
        <p:txBody>
          <a:bodyPr wrap="none" lIns="73152" tIns="54864" rIns="73152" bIns="54864" anchor="ctr">
            <a:spAutoFit/>
          </a:bodyPr>
          <a:lstStyle/>
          <a:p>
            <a:pPr algn="l">
              <a:lnSpc>
                <a:spcPts val="2145"/>
              </a:lnSpc>
              <a:spcBef>
                <a:spcPts val="0"/>
              </a:spcBef>
              <a:spcAft>
                <a:spcPts val="0"/>
              </a:spcAft>
            </a:pPr>
            <a:r>
              <a:rPr sz="1315" b="1">
                <a:solidFill>
                  <a:srgbClr val="1F2937"/>
                </a:solidFill>
                <a:latin typeface="Poppins"/>
              </a:rPr>
              <a:t>Order Processing</a:t>
            </a:r>
          </a:p>
        </p:txBody>
      </p:sp>
      <p:sp>
        <p:nvSpPr>
          <p:cNvPr id="18" name="TextBox 17"/>
          <p:cNvSpPr txBox="1"/>
          <p:nvPr/>
        </p:nvSpPr>
        <p:spPr>
          <a:xfrm>
            <a:off x="838179" y="5819775"/>
            <a:ext cx="4952876" cy="914400"/>
          </a:xfrm>
          <a:prstGeom prst="rect">
            <a:avLst/>
          </a:prstGeom>
          <a:noFill/>
        </p:spPr>
        <p:txBody>
          <a:bodyPr wrap="square" lIns="73152" tIns="54864" rIns="73152" bIns="54864" anchor="ctr">
            <a:spAutoFit/>
          </a:bodyPr>
          <a:lstStyle/>
          <a:p>
            <a:pPr algn="l">
              <a:lnSpc>
                <a:spcPts val="1560"/>
              </a:lnSpc>
              <a:spcBef>
                <a:spcPts val="0"/>
              </a:spcBef>
              <a:spcAft>
                <a:spcPts val="0"/>
              </a:spcAft>
            </a:pPr>
            <a:r>
              <a:rPr sz="956" b="0">
                <a:solidFill>
                  <a:srgbClr val="374151"/>
                </a:solidFill>
                <a:latin typeface="Apple Color Emoji"/>
              </a:rPr>
              <a:t>Customer orders are created with encapsulated details. The + operator merges two orders into a combined bill, automatically joining customer names and totaling the amounts with tax calculations included.</a:t>
            </a:r>
          </a:p>
        </p:txBody>
      </p:sp>
      <p:sp>
        <p:nvSpPr>
          <p:cNvPr id="19" name="Rectangle 18"/>
          <p:cNvSpPr/>
          <p:nvPr/>
        </p:nvSpPr>
        <p:spPr>
          <a:xfrm>
            <a:off x="6210144" y="1562100"/>
            <a:ext cx="5410064" cy="2095499"/>
          </a:xfrm>
          <a:prstGeom prst="rect">
            <a:avLst/>
          </a:prstGeom>
          <a:blipFill>
            <a:blip r:embed="rId5"/>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62540" y="3248024"/>
            <a:ext cx="3724181" cy="257175"/>
          </a:xfrm>
          <a:prstGeom prst="rect">
            <a:avLst/>
          </a:prstGeom>
          <a:noFill/>
        </p:spPr>
        <p:txBody>
          <a:bodyPr wrap="none" lIns="73152" tIns="54864" rIns="73152" bIns="54864" anchor="ctr">
            <a:spAutoFit/>
          </a:bodyPr>
          <a:lstStyle/>
          <a:p>
            <a:pPr algn="l">
              <a:lnSpc>
                <a:spcPts val="1755"/>
              </a:lnSpc>
              <a:spcBef>
                <a:spcPts val="0"/>
              </a:spcBef>
              <a:spcAft>
                <a:spcPts val="0"/>
              </a:spcAft>
            </a:pPr>
            <a:r>
              <a:rPr sz="1076" b="1">
                <a:solidFill>
                  <a:srgbClr val="FFFFFF"/>
                </a:solidFill>
                <a:latin typeface="Poppins"/>
              </a:rPr>
              <a:t>Lahori Dhabba - Where OOP meets cuisine</a:t>
            </a:r>
          </a:p>
        </p:txBody>
      </p:sp>
      <p:sp>
        <p:nvSpPr>
          <p:cNvPr id="22" name="Rounded Rectangle 21"/>
          <p:cNvSpPr/>
          <p:nvPr/>
        </p:nvSpPr>
        <p:spPr>
          <a:xfrm>
            <a:off x="6210144" y="3809999"/>
            <a:ext cx="5410064" cy="3028950"/>
          </a:xfrm>
          <a:prstGeom prst="roundRect">
            <a:avLst>
              <a:gd name="adj" fmla="val 7547"/>
            </a:avLst>
          </a:prstGeom>
          <a:solidFill>
            <a:srgbClr val="FFFFFF"/>
          </a:solidFill>
          <a:ln w="8255">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png"/>
          <p:cNvPicPr>
            <a:picLocks noChangeAspect="1"/>
          </p:cNvPicPr>
          <p:nvPr/>
        </p:nvPicPr>
        <p:blipFill>
          <a:blip r:embed="rId6">
            <a:alphaModFix/>
          </a:blip>
          <a:stretch>
            <a:fillRect/>
          </a:stretch>
        </p:blipFill>
        <p:spPr>
          <a:xfrm>
            <a:off x="6410164" y="4082302"/>
            <a:ext cx="190495" cy="179294"/>
          </a:xfrm>
          <a:prstGeom prst="rect">
            <a:avLst/>
          </a:prstGeom>
        </p:spPr>
      </p:pic>
      <p:pic>
        <p:nvPicPr>
          <p:cNvPr id="24" name="Picture 23" descr="image.png"/>
          <p:cNvPicPr>
            <a:picLocks noChangeAspect="1"/>
          </p:cNvPicPr>
          <p:nvPr/>
        </p:nvPicPr>
        <p:blipFill>
          <a:blip r:embed="rId7">
            <a:alphaModFix/>
          </a:blip>
          <a:stretch>
            <a:fillRect/>
          </a:stretch>
        </p:blipFill>
        <p:spPr>
          <a:xfrm>
            <a:off x="6410164" y="4496360"/>
            <a:ext cx="190495" cy="151279"/>
          </a:xfrm>
          <a:prstGeom prst="rect">
            <a:avLst/>
          </a:prstGeom>
        </p:spPr>
      </p:pic>
      <p:sp>
        <p:nvSpPr>
          <p:cNvPr id="25" name="TextBox 24"/>
          <p:cNvSpPr txBox="1"/>
          <p:nvPr/>
        </p:nvSpPr>
        <p:spPr>
          <a:xfrm>
            <a:off x="6714957" y="4438649"/>
            <a:ext cx="4705232" cy="228600"/>
          </a:xfrm>
          <a:prstGeom prst="rect">
            <a:avLst/>
          </a:prstGeom>
          <a:noFill/>
        </p:spPr>
        <p:txBody>
          <a:bodyPr wrap="none" lIns="73152" tIns="54864" rIns="73152" bIns="54864" anchor="ctr">
            <a:spAutoFit/>
          </a:bodyPr>
          <a:lstStyle/>
          <a:p>
            <a:pPr algn="l">
              <a:lnSpc>
                <a:spcPts val="1560"/>
              </a:lnSpc>
              <a:spcBef>
                <a:spcPts val="0"/>
              </a:spcBef>
              <a:spcAft>
                <a:spcPts val="0"/>
              </a:spcAft>
            </a:pPr>
            <a:r>
              <a:rPr sz="956" b="1">
                <a:solidFill>
                  <a:srgbClr val="1F2937"/>
                </a:solidFill>
                <a:latin typeface="Apple Color Emoji"/>
              </a:rPr>
              <a:t>Create Staff Objects</a:t>
            </a:r>
          </a:p>
        </p:txBody>
      </p:sp>
      <p:sp>
        <p:nvSpPr>
          <p:cNvPr id="26" name="TextBox 25"/>
          <p:cNvSpPr txBox="1"/>
          <p:nvPr/>
        </p:nvSpPr>
        <p:spPr>
          <a:xfrm>
            <a:off x="6714957" y="4667249"/>
            <a:ext cx="4705232" cy="428625"/>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897" b="0">
                <a:solidFill>
                  <a:srgbClr val="4B5563"/>
                </a:solidFill>
                <a:latin typeface="Apple Color Emoji"/>
              </a:rPr>
              <a:t>Manager and HeadManager objects are instantiated using multilevel inheritance</a:t>
            </a:r>
          </a:p>
        </p:txBody>
      </p:sp>
      <p:pic>
        <p:nvPicPr>
          <p:cNvPr id="27" name="Picture 26" descr="image.png"/>
          <p:cNvPicPr>
            <a:picLocks noChangeAspect="1"/>
          </p:cNvPicPr>
          <p:nvPr/>
        </p:nvPicPr>
        <p:blipFill>
          <a:blip r:embed="rId8">
            <a:alphaModFix/>
          </a:blip>
          <a:stretch>
            <a:fillRect/>
          </a:stretch>
        </p:blipFill>
        <p:spPr>
          <a:xfrm>
            <a:off x="6410164" y="5267885"/>
            <a:ext cx="190495" cy="151279"/>
          </a:xfrm>
          <a:prstGeom prst="rect">
            <a:avLst/>
          </a:prstGeom>
        </p:spPr>
      </p:pic>
      <p:sp>
        <p:nvSpPr>
          <p:cNvPr id="28" name="TextBox 27"/>
          <p:cNvSpPr txBox="1"/>
          <p:nvPr/>
        </p:nvSpPr>
        <p:spPr>
          <a:xfrm>
            <a:off x="6714957" y="5210174"/>
            <a:ext cx="4705232" cy="228600"/>
          </a:xfrm>
          <a:prstGeom prst="rect">
            <a:avLst/>
          </a:prstGeom>
          <a:noFill/>
        </p:spPr>
        <p:txBody>
          <a:bodyPr wrap="none" lIns="73152" tIns="54864" rIns="73152" bIns="54864" anchor="ctr">
            <a:spAutoFit/>
          </a:bodyPr>
          <a:lstStyle/>
          <a:p>
            <a:pPr algn="l">
              <a:lnSpc>
                <a:spcPts val="1560"/>
              </a:lnSpc>
              <a:spcBef>
                <a:spcPts val="0"/>
              </a:spcBef>
              <a:spcAft>
                <a:spcPts val="0"/>
              </a:spcAft>
            </a:pPr>
            <a:r>
              <a:rPr sz="956" b="1">
                <a:solidFill>
                  <a:srgbClr val="1F2937"/>
                </a:solidFill>
                <a:latin typeface="Apple Color Emoji"/>
              </a:rPr>
              <a:t>Display Information</a:t>
            </a:r>
          </a:p>
        </p:txBody>
      </p:sp>
      <p:sp>
        <p:nvSpPr>
          <p:cNvPr id="29" name="TextBox 28"/>
          <p:cNvSpPr txBox="1"/>
          <p:nvPr/>
        </p:nvSpPr>
        <p:spPr>
          <a:xfrm>
            <a:off x="6714957" y="5438774"/>
            <a:ext cx="4705232" cy="428625"/>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897" b="0">
                <a:solidFill>
                  <a:srgbClr val="4B5563"/>
                </a:solidFill>
                <a:latin typeface="Apple Color Emoji"/>
              </a:rPr>
              <a:t>Polymorphic display() calls show appropriate information based on object type</a:t>
            </a:r>
          </a:p>
        </p:txBody>
      </p:sp>
      <p:pic>
        <p:nvPicPr>
          <p:cNvPr id="30" name="Picture 29" descr="image.png"/>
          <p:cNvPicPr>
            <a:picLocks noChangeAspect="1"/>
          </p:cNvPicPr>
          <p:nvPr/>
        </p:nvPicPr>
        <p:blipFill>
          <a:blip r:embed="rId9">
            <a:alphaModFix/>
          </a:blip>
          <a:stretch>
            <a:fillRect/>
          </a:stretch>
        </p:blipFill>
        <p:spPr>
          <a:xfrm>
            <a:off x="6410164" y="6039410"/>
            <a:ext cx="190495" cy="151279"/>
          </a:xfrm>
          <a:prstGeom prst="rect">
            <a:avLst/>
          </a:prstGeom>
        </p:spPr>
      </p:pic>
      <p:sp>
        <p:nvSpPr>
          <p:cNvPr id="31" name="TextBox 30"/>
          <p:cNvSpPr txBox="1"/>
          <p:nvPr/>
        </p:nvSpPr>
        <p:spPr>
          <a:xfrm>
            <a:off x="6714957" y="5981699"/>
            <a:ext cx="4705232" cy="228600"/>
          </a:xfrm>
          <a:prstGeom prst="rect">
            <a:avLst/>
          </a:prstGeom>
          <a:noFill/>
        </p:spPr>
        <p:txBody>
          <a:bodyPr wrap="none" lIns="73152" tIns="54864" rIns="73152" bIns="54864" anchor="ctr">
            <a:spAutoFit/>
          </a:bodyPr>
          <a:lstStyle/>
          <a:p>
            <a:pPr algn="l">
              <a:lnSpc>
                <a:spcPts val="1560"/>
              </a:lnSpc>
              <a:spcBef>
                <a:spcPts val="0"/>
              </a:spcBef>
              <a:spcAft>
                <a:spcPts val="0"/>
              </a:spcAft>
            </a:pPr>
            <a:r>
              <a:rPr sz="956" b="1">
                <a:solidFill>
                  <a:srgbClr val="1F2937"/>
                </a:solidFill>
                <a:latin typeface="Apple Color Emoji"/>
              </a:rPr>
              <a:t>Process Menu &amp; Orders</a:t>
            </a:r>
          </a:p>
        </p:txBody>
      </p:sp>
      <p:sp>
        <p:nvSpPr>
          <p:cNvPr id="32" name="TextBox 31"/>
          <p:cNvSpPr txBox="1"/>
          <p:nvPr/>
        </p:nvSpPr>
        <p:spPr>
          <a:xfrm>
            <a:off x="6714957" y="6210299"/>
            <a:ext cx="4705232" cy="428625"/>
          </a:xfrm>
          <a:prstGeom prst="rect">
            <a:avLst/>
          </a:prstGeom>
          <a:noFill/>
        </p:spPr>
        <p:txBody>
          <a:bodyPr wrap="square" lIns="73152" tIns="54864" rIns="73152" bIns="54864" anchor="ctr">
            <a:spAutoFit/>
          </a:bodyPr>
          <a:lstStyle/>
          <a:p>
            <a:pPr algn="l">
              <a:lnSpc>
                <a:spcPts val="1430"/>
              </a:lnSpc>
              <a:spcBef>
                <a:spcPts val="0"/>
              </a:spcBef>
              <a:spcAft>
                <a:spcPts val="0"/>
              </a:spcAft>
            </a:pPr>
            <a:r>
              <a:rPr sz="897" b="0">
                <a:solidFill>
                  <a:srgbClr val="4B5563"/>
                </a:solidFill>
                <a:latin typeface="Apple Color Emoji"/>
              </a:rPr>
              <a:t>Operator overloading creates combos and merges orders with business logic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blipFill>
            <a:blip r:embed="rId2"/>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5638659" y="457200"/>
            <a:ext cx="914377" cy="914400"/>
          </a:xfrm>
          <a:prstGeom prst="roundRect">
            <a:avLst>
              <a:gd name="adj" fmla="val 2083125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alphaModFix/>
          </a:blip>
          <a:stretch>
            <a:fillRect/>
          </a:stretch>
        </p:blipFill>
        <p:spPr>
          <a:xfrm>
            <a:off x="5810104" y="674248"/>
            <a:ext cx="571485" cy="480303"/>
          </a:xfrm>
          <a:prstGeom prst="rect">
            <a:avLst/>
          </a:prstGeom>
        </p:spPr>
      </p:pic>
      <p:sp>
        <p:nvSpPr>
          <p:cNvPr id="5" name="TextBox 4"/>
          <p:cNvSpPr txBox="1"/>
          <p:nvPr/>
        </p:nvSpPr>
        <p:spPr>
          <a:xfrm>
            <a:off x="3828954" y="1676400"/>
            <a:ext cx="4524261" cy="838200"/>
          </a:xfrm>
          <a:prstGeom prst="rect">
            <a:avLst/>
          </a:prstGeom>
          <a:noFill/>
        </p:spPr>
        <p:txBody>
          <a:bodyPr wrap="none" lIns="73152" tIns="54864" rIns="73152" bIns="54864" anchor="ctr">
            <a:spAutoFit/>
          </a:bodyPr>
          <a:lstStyle/>
          <a:p>
            <a:pPr algn="ctr">
              <a:lnSpc>
                <a:spcPts val="5720"/>
              </a:lnSpc>
              <a:spcBef>
                <a:spcPts val="0"/>
              </a:spcBef>
              <a:spcAft>
                <a:spcPts val="1560"/>
              </a:spcAft>
            </a:pPr>
            <a:r>
              <a:rPr sz="4784" b="1">
                <a:solidFill>
                  <a:srgbClr val="FFFFFF"/>
                </a:solidFill>
                <a:latin typeface="Poppins"/>
              </a:rPr>
              <a:t>Thank You!</a:t>
            </a:r>
          </a:p>
        </p:txBody>
      </p:sp>
      <p:sp>
        <p:nvSpPr>
          <p:cNvPr id="6" name="Rectangle 5"/>
          <p:cNvSpPr/>
          <p:nvPr/>
        </p:nvSpPr>
        <p:spPr>
          <a:xfrm>
            <a:off x="5486262" y="2743200"/>
            <a:ext cx="1219169" cy="762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1885" y="3124200"/>
            <a:ext cx="3047923" cy="571500"/>
          </a:xfrm>
          <a:prstGeom prst="rect">
            <a:avLst/>
          </a:prstGeom>
          <a:noFill/>
        </p:spPr>
        <p:txBody>
          <a:bodyPr wrap="none" lIns="73152" tIns="54864" rIns="73152" bIns="54864" anchor="ctr">
            <a:spAutoFit/>
          </a:bodyPr>
          <a:lstStyle/>
          <a:p>
            <a:pPr algn="ctr">
              <a:lnSpc>
                <a:spcPts val="3900"/>
              </a:lnSpc>
              <a:spcBef>
                <a:spcPts val="0"/>
              </a:spcBef>
              <a:spcAft>
                <a:spcPts val="4160"/>
              </a:spcAft>
            </a:pPr>
            <a:r>
              <a:rPr sz="2392" b="1">
                <a:solidFill>
                  <a:srgbClr val="FFFFFF"/>
                </a:solidFill>
                <a:latin typeface="Poppins"/>
              </a:rPr>
              <a:t>Any Questions?</a:t>
            </a:r>
          </a:p>
        </p:txBody>
      </p:sp>
      <p:sp>
        <p:nvSpPr>
          <p:cNvPr id="8" name="Rounded Rectangle 7"/>
          <p:cNvSpPr/>
          <p:nvPr/>
        </p:nvSpPr>
        <p:spPr>
          <a:xfrm>
            <a:off x="3571785" y="4305300"/>
            <a:ext cx="5038599" cy="2085975"/>
          </a:xfrm>
          <a:prstGeom prst="roundRect">
            <a:avLst>
              <a:gd name="adj" fmla="val 14611"/>
            </a:avLst>
          </a:prstGeom>
          <a:solidFill>
            <a:srgbClr val="FFFFFF">
              <a:alpha val="20000"/>
            </a:srgbClr>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86102" y="4629150"/>
            <a:ext cx="4409964" cy="304800"/>
          </a:xfrm>
          <a:prstGeom prst="rect">
            <a:avLst/>
          </a:prstGeom>
          <a:noFill/>
        </p:spPr>
        <p:txBody>
          <a:bodyPr wrap="none" lIns="73152" tIns="54864" rIns="73152" bIns="54864" anchor="ctr">
            <a:spAutoFit/>
          </a:bodyPr>
          <a:lstStyle/>
          <a:p>
            <a:pPr algn="ctr">
              <a:lnSpc>
                <a:spcPts val="2080"/>
              </a:lnSpc>
              <a:spcBef>
                <a:spcPts val="0"/>
              </a:spcBef>
              <a:spcAft>
                <a:spcPts val="1040"/>
              </a:spcAft>
            </a:pPr>
            <a:r>
              <a:rPr sz="1435" b="0">
                <a:solidFill>
                  <a:srgbClr val="FFFFFF"/>
                </a:solidFill>
                <a:latin typeface="Apple Color Emoji"/>
              </a:rPr>
              <a:t>Restaurant Management System</a:t>
            </a:r>
          </a:p>
        </p:txBody>
      </p:sp>
      <p:sp>
        <p:nvSpPr>
          <p:cNvPr id="10" name="TextBox 9"/>
          <p:cNvSpPr txBox="1"/>
          <p:nvPr/>
        </p:nvSpPr>
        <p:spPr>
          <a:xfrm>
            <a:off x="3886102" y="5086350"/>
            <a:ext cx="4409964" cy="266699"/>
          </a:xfrm>
          <a:prstGeom prst="rect">
            <a:avLst/>
          </a:prstGeom>
          <a:noFill/>
        </p:spPr>
        <p:txBody>
          <a:bodyPr wrap="none" lIns="73152" tIns="54864" rIns="73152" bIns="54864" anchor="ctr">
            <a:spAutoFit/>
          </a:bodyPr>
          <a:lstStyle/>
          <a:p>
            <a:pPr algn="ctr">
              <a:lnSpc>
                <a:spcPts val="1820"/>
              </a:lnSpc>
              <a:spcBef>
                <a:spcPts val="0"/>
              </a:spcBef>
              <a:spcAft>
                <a:spcPts val="0"/>
              </a:spcAft>
            </a:pPr>
            <a:r>
              <a:rPr sz="1196" b="0">
                <a:solidFill>
                  <a:srgbClr val="FEF3C7"/>
                </a:solidFill>
                <a:latin typeface="Apple Color Emoji"/>
              </a:rPr>
              <a:t>Presented by:</a:t>
            </a:r>
          </a:p>
        </p:txBody>
      </p:sp>
      <p:sp>
        <p:nvSpPr>
          <p:cNvPr id="11" name="TextBox 10"/>
          <p:cNvSpPr txBox="1"/>
          <p:nvPr/>
        </p:nvSpPr>
        <p:spPr>
          <a:xfrm>
            <a:off x="3886102" y="5505450"/>
            <a:ext cx="2457388" cy="314325"/>
          </a:xfrm>
          <a:prstGeom prst="rect">
            <a:avLst/>
          </a:prstGeom>
          <a:noFill/>
        </p:spPr>
        <p:txBody>
          <a:bodyPr wrap="none" lIns="73152" tIns="54864" rIns="73152" bIns="54864" anchor="ctr">
            <a:spAutoFit/>
          </a:bodyPr>
          <a:lstStyle/>
          <a:p>
            <a:pPr algn="ctr">
              <a:lnSpc>
                <a:spcPts val="2145"/>
              </a:lnSpc>
              <a:spcBef>
                <a:spcPts val="0"/>
              </a:spcBef>
              <a:spcAft>
                <a:spcPts val="0"/>
              </a:spcAft>
            </a:pPr>
            <a:r>
              <a:rPr sz="1315" b="1">
                <a:solidFill>
                  <a:srgbClr val="FFFFFF"/>
                </a:solidFill>
                <a:latin typeface="Poppins"/>
              </a:rPr>
              <a:t>Syed Hammad Hassan</a:t>
            </a:r>
          </a:p>
        </p:txBody>
      </p:sp>
      <p:sp>
        <p:nvSpPr>
          <p:cNvPr id="12" name="TextBox 11"/>
          <p:cNvSpPr txBox="1"/>
          <p:nvPr/>
        </p:nvSpPr>
        <p:spPr>
          <a:xfrm>
            <a:off x="3886102" y="5810249"/>
            <a:ext cx="2457388" cy="266699"/>
          </a:xfrm>
          <a:prstGeom prst="rect">
            <a:avLst/>
          </a:prstGeom>
          <a:noFill/>
        </p:spPr>
        <p:txBody>
          <a:bodyPr wrap="none" lIns="73152" tIns="54864" rIns="73152" bIns="54864" anchor="ctr">
            <a:spAutoFit/>
          </a:bodyPr>
          <a:lstStyle/>
          <a:p>
            <a:pPr algn="ctr">
              <a:lnSpc>
                <a:spcPts val="1820"/>
              </a:lnSpc>
              <a:spcBef>
                <a:spcPts val="0"/>
              </a:spcBef>
              <a:spcAft>
                <a:spcPts val="0"/>
              </a:spcAft>
            </a:pPr>
            <a:r>
              <a:rPr sz="1076" b="0">
                <a:solidFill>
                  <a:srgbClr val="FDE68A"/>
                </a:solidFill>
                <a:latin typeface="Apple Color Emoji"/>
              </a:rPr>
              <a:t>ID: 45440</a:t>
            </a:r>
          </a:p>
        </p:txBody>
      </p:sp>
      <p:sp>
        <p:nvSpPr>
          <p:cNvPr id="13" name="Rectangle 12"/>
          <p:cNvSpPr/>
          <p:nvPr/>
        </p:nvSpPr>
        <p:spPr>
          <a:xfrm>
            <a:off x="6724481" y="5505450"/>
            <a:ext cx="9524" cy="581025"/>
          </a:xfrm>
          <a:prstGeom prst="rect">
            <a:avLst/>
          </a:prstGeom>
          <a:solidFill>
            <a:srgbClr val="FFFFFF">
              <a:alpha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14997" y="5505450"/>
            <a:ext cx="1181070" cy="314325"/>
          </a:xfrm>
          <a:prstGeom prst="rect">
            <a:avLst/>
          </a:prstGeom>
          <a:noFill/>
        </p:spPr>
        <p:txBody>
          <a:bodyPr wrap="none" lIns="73152" tIns="54864" rIns="73152" bIns="54864" anchor="ctr">
            <a:spAutoFit/>
          </a:bodyPr>
          <a:lstStyle/>
          <a:p>
            <a:pPr algn="ctr">
              <a:lnSpc>
                <a:spcPts val="2145"/>
              </a:lnSpc>
              <a:spcBef>
                <a:spcPts val="0"/>
              </a:spcBef>
              <a:spcAft>
                <a:spcPts val="0"/>
              </a:spcAft>
            </a:pPr>
            <a:r>
              <a:rPr sz="1315" b="1">
                <a:solidFill>
                  <a:srgbClr val="FFFFFF"/>
                </a:solidFill>
                <a:latin typeface="Poppins"/>
              </a:rPr>
              <a:t>Abdul Rauf</a:t>
            </a:r>
          </a:p>
        </p:txBody>
      </p:sp>
      <p:sp>
        <p:nvSpPr>
          <p:cNvPr id="15" name="TextBox 14"/>
          <p:cNvSpPr txBox="1"/>
          <p:nvPr/>
        </p:nvSpPr>
        <p:spPr>
          <a:xfrm>
            <a:off x="7114997" y="5810249"/>
            <a:ext cx="1181070" cy="266699"/>
          </a:xfrm>
          <a:prstGeom prst="rect">
            <a:avLst/>
          </a:prstGeom>
          <a:noFill/>
        </p:spPr>
        <p:txBody>
          <a:bodyPr wrap="none" lIns="73152" tIns="54864" rIns="73152" bIns="54864" anchor="ctr">
            <a:spAutoFit/>
          </a:bodyPr>
          <a:lstStyle/>
          <a:p>
            <a:pPr algn="ctr">
              <a:lnSpc>
                <a:spcPts val="1820"/>
              </a:lnSpc>
              <a:spcBef>
                <a:spcPts val="0"/>
              </a:spcBef>
              <a:spcAft>
                <a:spcPts val="0"/>
              </a:spcAft>
            </a:pPr>
            <a:r>
              <a:rPr sz="1076" b="0">
                <a:solidFill>
                  <a:srgbClr val="FDE68A"/>
                </a:solidFill>
                <a:latin typeface="Apple Color Emoji"/>
              </a:rPr>
              <a:t>ID: 47576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653</Words>
  <Application>Microsoft Office PowerPoint</Application>
  <PresentationFormat>Widescreen</PresentationFormat>
  <Paragraphs>123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Apple Color Emoji</vt:lpstr>
      <vt:lpstr>Arial</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SYED HAMMAD HASSAN</dc:creator>
  <cp:keywords/>
  <dc:description>generated using python-pptx</dc:description>
  <cp:lastModifiedBy>Nasir</cp:lastModifiedBy>
  <cp:revision>2</cp:revision>
  <dcterms:created xsi:type="dcterms:W3CDTF">2013-01-27T09:14:16Z</dcterms:created>
  <dcterms:modified xsi:type="dcterms:W3CDTF">2026-06-08T18:24:45Z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{"Label":"1","ContentProducer":"001191110108MA01KP2T5U00000","ProduceID":"272b8e17940c5408f193e90c16f18333","ReservedCode1":"","ContentPropagator":"001191110108MA01KP2T5U00000","PropagateID":"272b8e17940c5408f193e90c16f18333","ReservedCode2":""}</vt:lpwstr>
  </property>
</Properties>
</file>